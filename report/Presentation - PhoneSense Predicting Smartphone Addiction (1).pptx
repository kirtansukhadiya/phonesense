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Telegraf Bold" charset="1" panose="00000800000000000000"/>
      <p:regular r:id="rId23"/>
    </p:embeddedFont>
    <p:embeddedFont>
      <p:font typeface="Telegraf" charset="1" panose="00000500000000000000"/>
      <p:regular r:id="rId24"/>
    </p:embeddedFont>
    <p:embeddedFont>
      <p:font typeface="Roboto" charset="1" panose="02000000000000000000"/>
      <p:regular r:id="rId25"/>
    </p:embeddedFont>
    <p:embeddedFont>
      <p:font typeface="Canva Sans Bold" charset="1" panose="020B08030305010401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https://huggingface.co/spaces/Peekaboo2803/phonesense"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2A9DF4"/>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666750" y="666750"/>
            <a:ext cx="7191375" cy="8953500"/>
            <a:chOff x="0" y="0"/>
            <a:chExt cx="928643" cy="1156192"/>
          </a:xfrm>
        </p:grpSpPr>
        <p:sp>
          <p:nvSpPr>
            <p:cNvPr name="Freeform 6" id="6"/>
            <p:cNvSpPr/>
            <p:nvPr/>
          </p:nvSpPr>
          <p:spPr>
            <a:xfrm flipH="false" flipV="false" rot="0">
              <a:off x="0" y="0"/>
              <a:ext cx="928643" cy="1156192"/>
            </a:xfrm>
            <a:custGeom>
              <a:avLst/>
              <a:gdLst/>
              <a:ahLst/>
              <a:cxnLst/>
              <a:rect r="r" b="b" t="t" l="l"/>
              <a:pathLst>
                <a:path h="1156192" w="928643">
                  <a:moveTo>
                    <a:pt x="37679" y="0"/>
                  </a:moveTo>
                  <a:lnTo>
                    <a:pt x="890964" y="0"/>
                  </a:lnTo>
                  <a:cubicBezTo>
                    <a:pt x="900957" y="0"/>
                    <a:pt x="910541" y="3970"/>
                    <a:pt x="917607" y="11036"/>
                  </a:cubicBezTo>
                  <a:cubicBezTo>
                    <a:pt x="924673" y="18102"/>
                    <a:pt x="928643" y="27686"/>
                    <a:pt x="928643" y="37679"/>
                  </a:cubicBezTo>
                  <a:lnTo>
                    <a:pt x="928643" y="1118512"/>
                  </a:lnTo>
                  <a:cubicBezTo>
                    <a:pt x="928643" y="1139322"/>
                    <a:pt x="911774" y="1156192"/>
                    <a:pt x="890964" y="1156192"/>
                  </a:cubicBezTo>
                  <a:lnTo>
                    <a:pt x="37679" y="1156192"/>
                  </a:lnTo>
                  <a:cubicBezTo>
                    <a:pt x="16870" y="1156192"/>
                    <a:pt x="0" y="1139322"/>
                    <a:pt x="0" y="1118512"/>
                  </a:cubicBezTo>
                  <a:lnTo>
                    <a:pt x="0" y="37679"/>
                  </a:lnTo>
                  <a:cubicBezTo>
                    <a:pt x="0" y="16870"/>
                    <a:pt x="16870" y="0"/>
                    <a:pt x="37679" y="0"/>
                  </a:cubicBezTo>
                  <a:close/>
                </a:path>
              </a:pathLst>
            </a:custGeom>
            <a:blipFill>
              <a:blip r:embed="rId2"/>
              <a:stretch>
                <a:fillRect l="0" t="-199" r="0" b="-199"/>
              </a:stretch>
            </a:blipFill>
            <a:ln cap="rnd">
              <a:noFill/>
              <a:prstDash val="solid"/>
              <a:round/>
            </a:ln>
          </p:spPr>
        </p:sp>
      </p:grpSp>
      <p:grpSp>
        <p:nvGrpSpPr>
          <p:cNvPr name="Group 7" id="7"/>
          <p:cNvGrpSpPr/>
          <p:nvPr/>
        </p:nvGrpSpPr>
        <p:grpSpPr>
          <a:xfrm rot="0">
            <a:off x="9296400" y="666750"/>
            <a:ext cx="8324850" cy="7296150"/>
            <a:chOff x="0" y="0"/>
            <a:chExt cx="11099800" cy="9728200"/>
          </a:xfrm>
        </p:grpSpPr>
        <p:sp>
          <p:nvSpPr>
            <p:cNvPr name="TextBox 8" id="8"/>
            <p:cNvSpPr txBox="true"/>
            <p:nvPr/>
          </p:nvSpPr>
          <p:spPr>
            <a:xfrm rot="0">
              <a:off x="0" y="1174750"/>
              <a:ext cx="11099800" cy="8553450"/>
            </a:xfrm>
            <a:prstGeom prst="rect">
              <a:avLst/>
            </a:prstGeom>
          </p:spPr>
          <p:txBody>
            <a:bodyPr anchor="t" rtlCol="false" tIns="0" lIns="0" bIns="0" rIns="0">
              <a:spAutoFit/>
            </a:bodyPr>
            <a:lstStyle/>
            <a:p>
              <a:pPr algn="l" marL="0" indent="0" lvl="0">
                <a:lnSpc>
                  <a:spcPts val="9900"/>
                </a:lnSpc>
              </a:pPr>
              <a:r>
                <a:rPr lang="en-US" b="true" sz="9000" spc="-89">
                  <a:solidFill>
                    <a:srgbClr val="2A9DF4"/>
                  </a:solidFill>
                  <a:latin typeface="Telegraf Bold"/>
                  <a:ea typeface="Telegraf Bold"/>
                  <a:cs typeface="Telegraf Bold"/>
                  <a:sym typeface="Telegraf Bold"/>
                </a:rPr>
                <a:t>PhoneSense: Smartphone Addiction Prediction</a:t>
              </a:r>
            </a:p>
            <a:p>
              <a:pPr algn="l" marL="0" indent="0" lvl="0">
                <a:lnSpc>
                  <a:spcPts val="9900"/>
                </a:lnSpc>
              </a:pPr>
            </a:p>
          </p:txBody>
        </p:sp>
        <p:sp>
          <p:nvSpPr>
            <p:cNvPr name="TextBox 9" id="9"/>
            <p:cNvSpPr txBox="true"/>
            <p:nvPr/>
          </p:nvSpPr>
          <p:spPr>
            <a:xfrm rot="0">
              <a:off x="0" y="-9525"/>
              <a:ext cx="11099800" cy="606425"/>
            </a:xfrm>
            <a:prstGeom prst="rect">
              <a:avLst/>
            </a:prstGeom>
          </p:spPr>
          <p:txBody>
            <a:bodyPr anchor="t" rtlCol="false" tIns="0" lIns="0" bIns="0" rIns="0">
              <a:spAutoFit/>
            </a:bodyPr>
            <a:lstStyle/>
            <a:p>
              <a:pPr algn="l" marL="0" indent="0" lvl="0">
                <a:lnSpc>
                  <a:spcPts val="3299"/>
                </a:lnSpc>
              </a:pPr>
              <a:r>
                <a:rPr lang="en-US" b="true" sz="2999" spc="-29">
                  <a:solidFill>
                    <a:srgbClr val="728CA3"/>
                  </a:solidFill>
                  <a:latin typeface="Telegraf Bold"/>
                  <a:ea typeface="Telegraf Bold"/>
                  <a:cs typeface="Telegraf Bold"/>
                  <a:sym typeface="Telegraf Bold"/>
                </a:rPr>
                <a:t>Understanding Smartphone Addiction</a:t>
              </a:r>
            </a:p>
          </p:txBody>
        </p:sp>
      </p:grpSp>
      <p:sp>
        <p:nvSpPr>
          <p:cNvPr name="TextBox 10" id="10"/>
          <p:cNvSpPr txBox="true"/>
          <p:nvPr/>
        </p:nvSpPr>
        <p:spPr>
          <a:xfrm rot="0">
            <a:off x="9296400" y="9163050"/>
            <a:ext cx="8324850" cy="457200"/>
          </a:xfrm>
          <a:prstGeom prst="rect">
            <a:avLst/>
          </a:prstGeom>
        </p:spPr>
        <p:txBody>
          <a:bodyPr anchor="t" rtlCol="false" tIns="0" lIns="0" bIns="0" rIns="0">
            <a:spAutoFit/>
          </a:bodyPr>
          <a:lstStyle/>
          <a:p>
            <a:pPr algn="l" marL="0" indent="0" lvl="0">
              <a:lnSpc>
                <a:spcPts val="3299"/>
              </a:lnSpc>
            </a:pPr>
            <a:r>
              <a:rPr lang="en-US" sz="2999" spc="-29">
                <a:solidFill>
                  <a:srgbClr val="728CA3"/>
                </a:solidFill>
                <a:latin typeface="Telegraf"/>
                <a:ea typeface="Telegraf"/>
                <a:cs typeface="Telegraf"/>
                <a:sym typeface="Telegraf"/>
              </a:rPr>
              <a:t>Presented by Kirtan Sukhadiya, Abhijeet Singh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597389"/>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666750" y="666750"/>
            <a:ext cx="6886575" cy="8058150"/>
            <a:chOff x="0" y="0"/>
            <a:chExt cx="813829" cy="952281"/>
          </a:xfrm>
        </p:grpSpPr>
        <p:sp>
          <p:nvSpPr>
            <p:cNvPr name="Freeform 6" id="6"/>
            <p:cNvSpPr/>
            <p:nvPr/>
          </p:nvSpPr>
          <p:spPr>
            <a:xfrm flipH="false" flipV="false" rot="0">
              <a:off x="0" y="0"/>
              <a:ext cx="813829" cy="952281"/>
            </a:xfrm>
            <a:custGeom>
              <a:avLst/>
              <a:gdLst/>
              <a:ahLst/>
              <a:cxnLst/>
              <a:rect r="r" b="b" t="t" l="l"/>
              <a:pathLst>
                <a:path h="952281" w="813829">
                  <a:moveTo>
                    <a:pt x="39347" y="0"/>
                  </a:moveTo>
                  <a:lnTo>
                    <a:pt x="774482" y="0"/>
                  </a:lnTo>
                  <a:cubicBezTo>
                    <a:pt x="796213" y="0"/>
                    <a:pt x="813829" y="17616"/>
                    <a:pt x="813829" y="39347"/>
                  </a:cubicBezTo>
                  <a:lnTo>
                    <a:pt x="813829" y="912934"/>
                  </a:lnTo>
                  <a:cubicBezTo>
                    <a:pt x="813829" y="934665"/>
                    <a:pt x="796213" y="952281"/>
                    <a:pt x="774482" y="952281"/>
                  </a:cubicBezTo>
                  <a:lnTo>
                    <a:pt x="39347" y="952281"/>
                  </a:lnTo>
                  <a:cubicBezTo>
                    <a:pt x="17616" y="952281"/>
                    <a:pt x="0" y="934665"/>
                    <a:pt x="0" y="912934"/>
                  </a:cubicBezTo>
                  <a:lnTo>
                    <a:pt x="0" y="39347"/>
                  </a:lnTo>
                  <a:cubicBezTo>
                    <a:pt x="0" y="17616"/>
                    <a:pt x="17616" y="0"/>
                    <a:pt x="39347" y="0"/>
                  </a:cubicBezTo>
                  <a:close/>
                </a:path>
              </a:pathLst>
            </a:custGeom>
            <a:blipFill>
              <a:blip r:embed="rId2"/>
              <a:stretch>
                <a:fillRect l="0" t="-197" r="0" b="-197"/>
              </a:stretch>
            </a:blipFill>
          </p:spPr>
        </p:sp>
      </p:grpSp>
      <p:grpSp>
        <p:nvGrpSpPr>
          <p:cNvPr name="Group 7" id="7"/>
          <p:cNvGrpSpPr/>
          <p:nvPr/>
        </p:nvGrpSpPr>
        <p:grpSpPr>
          <a:xfrm rot="0">
            <a:off x="9296400" y="666750"/>
            <a:ext cx="8324850" cy="4331876"/>
            <a:chOff x="0" y="0"/>
            <a:chExt cx="11099800" cy="5775835"/>
          </a:xfrm>
        </p:grpSpPr>
        <p:sp>
          <p:nvSpPr>
            <p:cNvPr name="TextBox 8" id="8"/>
            <p:cNvSpPr txBox="true"/>
            <p:nvPr/>
          </p:nvSpPr>
          <p:spPr>
            <a:xfrm rot="0">
              <a:off x="0" y="4357669"/>
              <a:ext cx="11099800" cy="1418166"/>
            </a:xfrm>
            <a:prstGeom prst="rect">
              <a:avLst/>
            </a:prstGeom>
          </p:spPr>
          <p:txBody>
            <a:bodyPr anchor="t" rtlCol="false" tIns="0" lIns="0" bIns="0" rIns="0">
              <a:spAutoFit/>
            </a:bodyPr>
            <a:lstStyle/>
            <a:p>
              <a:pPr algn="l" marL="0" indent="0" lvl="0">
                <a:lnSpc>
                  <a:spcPts val="2800"/>
                </a:lnSpc>
              </a:pPr>
              <a:r>
                <a:rPr lang="en-US" sz="2000" spc="-20">
                  <a:solidFill>
                    <a:srgbClr val="2A9DF4"/>
                  </a:solidFill>
                  <a:latin typeface="Telegraf"/>
                  <a:ea typeface="Telegraf"/>
                  <a:cs typeface="Telegraf"/>
                  <a:sym typeface="Telegraf"/>
                </a:rPr>
                <a:t>PhoneSense utilizes machine learning to </a:t>
              </a:r>
              <a:r>
                <a:rPr lang="en-US" b="true" sz="2000" spc="-20">
                  <a:solidFill>
                    <a:srgbClr val="2A9DF4"/>
                  </a:solidFill>
                  <a:latin typeface="Telegraf Bold"/>
                  <a:ea typeface="Telegraf Bold"/>
                  <a:cs typeface="Telegraf Bold"/>
                  <a:sym typeface="Telegraf Bold"/>
                </a:rPr>
                <a:t>predict addiction risk</a:t>
              </a:r>
              <a:r>
                <a:rPr lang="en-US" sz="2000" spc="-20">
                  <a:solidFill>
                    <a:srgbClr val="2A9DF4"/>
                  </a:solidFill>
                  <a:latin typeface="Telegraf"/>
                  <a:ea typeface="Telegraf"/>
                  <a:cs typeface="Telegraf"/>
                  <a:sym typeface="Telegraf"/>
                </a:rPr>
                <a:t> by analyzing user behavior and survey data, aiming to assist researchers and advocates in addressing smartphone dependency effectively.</a:t>
              </a:r>
            </a:p>
          </p:txBody>
        </p:sp>
        <p:sp>
          <p:nvSpPr>
            <p:cNvPr name="TextBox 9" id="9"/>
            <p:cNvSpPr txBox="true"/>
            <p:nvPr/>
          </p:nvSpPr>
          <p:spPr>
            <a:xfrm rot="0">
              <a:off x="0" y="3562350"/>
              <a:ext cx="11099800" cy="628650"/>
            </a:xfrm>
            <a:prstGeom prst="rect">
              <a:avLst/>
            </a:prstGeom>
          </p:spPr>
          <p:txBody>
            <a:bodyPr anchor="t" rtlCol="false" tIns="0" lIns="0" bIns="0" rIns="0">
              <a:spAutoFit/>
            </a:bodyPr>
            <a:lstStyle/>
            <a:p>
              <a:pPr algn="l" marL="0" indent="0" lvl="0">
                <a:lnSpc>
                  <a:spcPts val="3300"/>
                </a:lnSpc>
              </a:pPr>
              <a:r>
                <a:rPr lang="en-US" b="true" sz="3000" spc="-30">
                  <a:solidFill>
                    <a:srgbClr val="728CA3"/>
                  </a:solidFill>
                  <a:latin typeface="Telegraf Bold"/>
                  <a:ea typeface="Telegraf Bold"/>
                  <a:cs typeface="Telegraf Bold"/>
                  <a:sym typeface="Telegraf Bold"/>
                </a:rPr>
                <a:t>Understanding PhoneSense and Its Purpose</a:t>
              </a:r>
            </a:p>
          </p:txBody>
        </p:sp>
        <p:sp>
          <p:nvSpPr>
            <p:cNvPr name="TextBox 10" id="10"/>
            <p:cNvSpPr txBox="true"/>
            <p:nvPr/>
          </p:nvSpPr>
          <p:spPr>
            <a:xfrm rot="0">
              <a:off x="0" y="-9525"/>
              <a:ext cx="11099800" cy="2718858"/>
            </a:xfrm>
            <a:prstGeom prst="rect">
              <a:avLst/>
            </a:prstGeom>
          </p:spPr>
          <p:txBody>
            <a:bodyPr anchor="t" rtlCol="false" tIns="0" lIns="0" bIns="0" rIns="0">
              <a:spAutoFit/>
            </a:bodyPr>
            <a:lstStyle/>
            <a:p>
              <a:pPr algn="l" marL="0" indent="0" lvl="0">
                <a:lnSpc>
                  <a:spcPts val="7699"/>
                </a:lnSpc>
              </a:pPr>
              <a:r>
                <a:rPr lang="en-US" b="true" sz="6999" spc="-69">
                  <a:solidFill>
                    <a:srgbClr val="2A9DF4"/>
                  </a:solidFill>
                  <a:latin typeface="Telegraf Bold"/>
                  <a:ea typeface="Telegraf Bold"/>
                  <a:cs typeface="Telegraf Bold"/>
                  <a:sym typeface="Telegraf Bold"/>
                </a:rPr>
                <a:t>PhoneSense Overview</a:t>
              </a:r>
            </a:p>
          </p:txBody>
        </p:sp>
      </p:grpSp>
      <p:sp>
        <p:nvSpPr>
          <p:cNvPr name="AutoShape 11" id="11"/>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TextBox 12" id="12"/>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2A9DF4"/>
                </a:solidFill>
                <a:latin typeface="Telegraf Bold"/>
                <a:ea typeface="Telegraf Bold"/>
                <a:cs typeface="Telegraf Bold"/>
                <a:sym typeface="Telegraf Bold"/>
              </a:rPr>
              <a:t>2</a:t>
            </a:r>
          </a:p>
        </p:txBody>
      </p:sp>
      <p:sp>
        <p:nvSpPr>
          <p:cNvPr name="TextBox 13" id="13"/>
          <p:cNvSpPr txBox="true"/>
          <p:nvPr/>
        </p:nvSpPr>
        <p:spPr>
          <a:xfrm rot="0">
            <a:off x="9296400" y="7442652"/>
            <a:ext cx="1514252" cy="653415"/>
          </a:xfrm>
          <a:prstGeom prst="rect">
            <a:avLst/>
          </a:prstGeom>
        </p:spPr>
        <p:txBody>
          <a:bodyPr anchor="t" rtlCol="false" tIns="0" lIns="0" bIns="0" rIns="0">
            <a:spAutoFit/>
          </a:bodyPr>
          <a:lstStyle/>
          <a:p>
            <a:pPr algn="ctr">
              <a:lnSpc>
                <a:spcPts val="4619"/>
              </a:lnSpc>
              <a:spcBef>
                <a:spcPct val="0"/>
              </a:spcBef>
            </a:pPr>
            <a:r>
              <a:rPr lang="en-US" b="true" sz="4199" spc="-41">
                <a:solidFill>
                  <a:srgbClr val="2A9DF4"/>
                </a:solidFill>
                <a:latin typeface="Telegraf Bold"/>
                <a:ea typeface="Telegraf Bold"/>
                <a:cs typeface="Telegraf Bold"/>
                <a:sym typeface="Telegraf Bold"/>
              </a:rPr>
              <a:t>Demo</a:t>
            </a:r>
          </a:p>
        </p:txBody>
      </p:sp>
      <p:sp>
        <p:nvSpPr>
          <p:cNvPr name="TextBox 14" id="14"/>
          <p:cNvSpPr txBox="true"/>
          <p:nvPr/>
        </p:nvSpPr>
        <p:spPr>
          <a:xfrm rot="0">
            <a:off x="9296400" y="8105592"/>
            <a:ext cx="2144762" cy="334010"/>
          </a:xfrm>
          <a:prstGeom prst="rect">
            <a:avLst/>
          </a:prstGeom>
        </p:spPr>
        <p:txBody>
          <a:bodyPr anchor="t" rtlCol="false" tIns="0" lIns="0" bIns="0" rIns="0">
            <a:spAutoFit/>
          </a:bodyPr>
          <a:lstStyle/>
          <a:p>
            <a:pPr algn="ctr">
              <a:lnSpc>
                <a:spcPts val="2530"/>
              </a:lnSpc>
              <a:spcBef>
                <a:spcPct val="0"/>
              </a:spcBef>
            </a:pPr>
            <a:r>
              <a:rPr lang="en-US" sz="2300" spc="-23" u="sng">
                <a:solidFill>
                  <a:srgbClr val="2A9DF4"/>
                </a:solidFill>
                <a:latin typeface="Roboto"/>
                <a:ea typeface="Roboto"/>
                <a:cs typeface="Roboto"/>
                <a:sym typeface="Roboto"/>
                <a:hlinkClick r:id="rId3" tooltip="https://huggingface.co/spaces/Peekaboo2803/phonesense"/>
              </a:rPr>
              <a:t>PhoneSense.app</a:t>
            </a:r>
          </a:p>
        </p:txBody>
      </p:sp>
      <p:sp>
        <p:nvSpPr>
          <p:cNvPr name="TextBox 15" id="15"/>
          <p:cNvSpPr txBox="true"/>
          <p:nvPr/>
        </p:nvSpPr>
        <p:spPr>
          <a:xfrm rot="0">
            <a:off x="9296400" y="5368742"/>
            <a:ext cx="3631927" cy="581660"/>
          </a:xfrm>
          <a:prstGeom prst="rect">
            <a:avLst/>
          </a:prstGeom>
        </p:spPr>
        <p:txBody>
          <a:bodyPr anchor="t" rtlCol="false" tIns="0" lIns="0" bIns="0" rIns="0">
            <a:spAutoFit/>
          </a:bodyPr>
          <a:lstStyle/>
          <a:p>
            <a:pPr algn="ctr">
              <a:lnSpc>
                <a:spcPts val="4179"/>
              </a:lnSpc>
              <a:spcBef>
                <a:spcPct val="0"/>
              </a:spcBef>
            </a:pPr>
            <a:r>
              <a:rPr lang="en-US" b="true" sz="3799" spc="-37">
                <a:solidFill>
                  <a:srgbClr val="2A9DF4"/>
                </a:solidFill>
                <a:latin typeface="Telegraf Bold"/>
                <a:ea typeface="Telegraf Bold"/>
                <a:cs typeface="Telegraf Bold"/>
                <a:sym typeface="Telegraf Bold"/>
              </a:rPr>
              <a:t>Null Hypothesis</a:t>
            </a:r>
          </a:p>
        </p:txBody>
      </p:sp>
      <p:sp>
        <p:nvSpPr>
          <p:cNvPr name="TextBox 16" id="16"/>
          <p:cNvSpPr txBox="true"/>
          <p:nvPr/>
        </p:nvSpPr>
        <p:spPr>
          <a:xfrm rot="0">
            <a:off x="9296400" y="6288539"/>
            <a:ext cx="8115300" cy="844550"/>
          </a:xfrm>
          <a:prstGeom prst="rect">
            <a:avLst/>
          </a:prstGeom>
        </p:spPr>
        <p:txBody>
          <a:bodyPr anchor="t" rtlCol="false" tIns="0" lIns="0" bIns="0" rIns="0">
            <a:spAutoFit/>
          </a:bodyPr>
          <a:lstStyle/>
          <a:p>
            <a:pPr algn="l">
              <a:lnSpc>
                <a:spcPts val="2199"/>
              </a:lnSpc>
              <a:spcBef>
                <a:spcPct val="0"/>
              </a:spcBef>
            </a:pPr>
            <a:r>
              <a:rPr lang="en-US" sz="1999" spc="-19">
                <a:solidFill>
                  <a:srgbClr val="2A9DF4"/>
                </a:solidFill>
                <a:latin typeface="Roboto"/>
                <a:ea typeface="Roboto"/>
                <a:cs typeface="Roboto"/>
                <a:sym typeface="Roboto"/>
              </a:rPr>
              <a:t>Daily smartphone usage h</a:t>
            </a:r>
            <a:r>
              <a:rPr lang="en-US" sz="1999" spc="-19">
                <a:solidFill>
                  <a:srgbClr val="2A9DF4"/>
                </a:solidFill>
                <a:latin typeface="Roboto"/>
                <a:ea typeface="Roboto"/>
                <a:cs typeface="Roboto"/>
                <a:sym typeface="Roboto"/>
              </a:rPr>
              <a:t>ours, phone checks per day, time spent on social media, anxiety level, depression level, sleep hours, and exercise hours do not collectively predict smartphone addiction level.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204168" y="2336800"/>
            <a:ext cx="2571750" cy="1790700"/>
            <a:chOff x="0" y="0"/>
            <a:chExt cx="1167319" cy="812800"/>
          </a:xfrm>
        </p:grpSpPr>
        <p:sp>
          <p:nvSpPr>
            <p:cNvPr name="Freeform 3" id="3"/>
            <p:cNvSpPr/>
            <p:nvPr/>
          </p:nvSpPr>
          <p:spPr>
            <a:xfrm flipH="false" flipV="false" rot="0">
              <a:off x="0" y="0"/>
              <a:ext cx="1167319" cy="812800"/>
            </a:xfrm>
            <a:custGeom>
              <a:avLst/>
              <a:gdLst/>
              <a:ahLst/>
              <a:cxnLst/>
              <a:rect r="r" b="b" t="t" l="l"/>
              <a:pathLst>
                <a:path h="812800" w="1167319">
                  <a:moveTo>
                    <a:pt x="69239" y="0"/>
                  </a:moveTo>
                  <a:lnTo>
                    <a:pt x="1098081" y="0"/>
                  </a:lnTo>
                  <a:cubicBezTo>
                    <a:pt x="1136320" y="0"/>
                    <a:pt x="1167319" y="30999"/>
                    <a:pt x="1167319" y="69239"/>
                  </a:cubicBezTo>
                  <a:lnTo>
                    <a:pt x="1167319" y="743561"/>
                  </a:lnTo>
                  <a:cubicBezTo>
                    <a:pt x="1167319" y="761925"/>
                    <a:pt x="1160024" y="779536"/>
                    <a:pt x="1147040" y="792521"/>
                  </a:cubicBezTo>
                  <a:cubicBezTo>
                    <a:pt x="1134055" y="805505"/>
                    <a:pt x="1116444" y="812800"/>
                    <a:pt x="1098081" y="812800"/>
                  </a:cubicBezTo>
                  <a:lnTo>
                    <a:pt x="69239" y="812800"/>
                  </a:lnTo>
                  <a:cubicBezTo>
                    <a:pt x="50875" y="812800"/>
                    <a:pt x="33264" y="805505"/>
                    <a:pt x="20279" y="792521"/>
                  </a:cubicBezTo>
                  <a:cubicBezTo>
                    <a:pt x="7295" y="779536"/>
                    <a:pt x="0" y="761925"/>
                    <a:pt x="0" y="743561"/>
                  </a:cubicBezTo>
                  <a:lnTo>
                    <a:pt x="0" y="69239"/>
                  </a:lnTo>
                  <a:cubicBezTo>
                    <a:pt x="0" y="50875"/>
                    <a:pt x="7295" y="33264"/>
                    <a:pt x="20279" y="20279"/>
                  </a:cubicBezTo>
                  <a:cubicBezTo>
                    <a:pt x="33264" y="7295"/>
                    <a:pt x="50875" y="0"/>
                    <a:pt x="69239" y="0"/>
                  </a:cubicBezTo>
                  <a:close/>
                </a:path>
              </a:pathLst>
            </a:custGeom>
            <a:blipFill>
              <a:blip r:embed="rId2"/>
              <a:stretch>
                <a:fillRect l="-365" t="0" r="-365" b="0"/>
              </a:stretch>
            </a:blipFill>
          </p:spPr>
        </p:sp>
      </p:grpSp>
      <p:sp>
        <p:nvSpPr>
          <p:cNvPr name="AutoShape 4" id="4"/>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Freeform 5" id="5"/>
          <p:cNvSpPr/>
          <p:nvPr/>
        </p:nvSpPr>
        <p:spPr>
          <a:xfrm flipH="false" flipV="false" rot="0">
            <a:off x="10587715" y="796621"/>
            <a:ext cx="4489453" cy="8693758"/>
          </a:xfrm>
          <a:custGeom>
            <a:avLst/>
            <a:gdLst/>
            <a:ahLst/>
            <a:cxnLst/>
            <a:rect r="r" b="b" t="t" l="l"/>
            <a:pathLst>
              <a:path h="8693758" w="4489453">
                <a:moveTo>
                  <a:pt x="0" y="0"/>
                </a:moveTo>
                <a:lnTo>
                  <a:pt x="4489453" y="0"/>
                </a:lnTo>
                <a:lnTo>
                  <a:pt x="4489453" y="8693758"/>
                </a:lnTo>
                <a:lnTo>
                  <a:pt x="0" y="8693758"/>
                </a:lnTo>
                <a:lnTo>
                  <a:pt x="0" y="0"/>
                </a:lnTo>
                <a:close/>
              </a:path>
            </a:pathLst>
          </a:custGeom>
          <a:blipFill>
            <a:blip r:embed="rId3"/>
            <a:stretch>
              <a:fillRect l="-1665" t="0" r="0" b="0"/>
            </a:stretch>
          </a:blipFill>
        </p:spPr>
      </p:sp>
      <p:sp>
        <p:nvSpPr>
          <p:cNvPr name="TextBox 6" id="6"/>
          <p:cNvSpPr txBox="true"/>
          <p:nvPr/>
        </p:nvSpPr>
        <p:spPr>
          <a:xfrm rot="0">
            <a:off x="204168" y="4117975"/>
            <a:ext cx="9563100" cy="2041525"/>
          </a:xfrm>
          <a:prstGeom prst="rect">
            <a:avLst/>
          </a:prstGeom>
        </p:spPr>
        <p:txBody>
          <a:bodyPr anchor="t" rtlCol="false" tIns="0" lIns="0" bIns="0" rIns="0">
            <a:spAutoFit/>
          </a:bodyPr>
          <a:lstStyle/>
          <a:p>
            <a:pPr algn="l" marL="0" indent="0" lvl="0">
              <a:lnSpc>
                <a:spcPts val="7699"/>
              </a:lnSpc>
            </a:pPr>
            <a:r>
              <a:rPr lang="en-US" b="true" sz="6999" spc="-69">
                <a:solidFill>
                  <a:srgbClr val="2A9DF4"/>
                </a:solidFill>
                <a:latin typeface="Telegraf Bold"/>
                <a:ea typeface="Telegraf Bold"/>
                <a:cs typeface="Telegraf Bold"/>
                <a:sym typeface="Telegraf Bold"/>
              </a:rPr>
              <a:t>Cleaned </a:t>
            </a:r>
            <a:r>
              <a:rPr lang="en-US" b="true" sz="6999" spc="-69">
                <a:solidFill>
                  <a:srgbClr val="2A9DF4"/>
                </a:solidFill>
                <a:latin typeface="Telegraf Bold"/>
                <a:ea typeface="Telegraf Bold"/>
                <a:cs typeface="Telegraf Bold"/>
                <a:sym typeface="Telegraf Bold"/>
              </a:rPr>
              <a:t>Dataset Overview</a:t>
            </a:r>
          </a:p>
        </p:txBody>
      </p:sp>
      <p:sp>
        <p:nvSpPr>
          <p:cNvPr name="TextBox 7" id="7"/>
          <p:cNvSpPr txBox="true"/>
          <p:nvPr/>
        </p:nvSpPr>
        <p:spPr>
          <a:xfrm rot="0">
            <a:off x="17432103"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422859" y="614612"/>
            <a:ext cx="2571750" cy="1790700"/>
            <a:chOff x="0" y="0"/>
            <a:chExt cx="1167319" cy="812800"/>
          </a:xfrm>
        </p:grpSpPr>
        <p:sp>
          <p:nvSpPr>
            <p:cNvPr name="Freeform 3" id="3"/>
            <p:cNvSpPr/>
            <p:nvPr/>
          </p:nvSpPr>
          <p:spPr>
            <a:xfrm flipH="false" flipV="false" rot="0">
              <a:off x="0" y="0"/>
              <a:ext cx="1167319" cy="812800"/>
            </a:xfrm>
            <a:custGeom>
              <a:avLst/>
              <a:gdLst/>
              <a:ahLst/>
              <a:cxnLst/>
              <a:rect r="r" b="b" t="t" l="l"/>
              <a:pathLst>
                <a:path h="812800" w="1167319">
                  <a:moveTo>
                    <a:pt x="69239" y="0"/>
                  </a:moveTo>
                  <a:lnTo>
                    <a:pt x="1098081" y="0"/>
                  </a:lnTo>
                  <a:cubicBezTo>
                    <a:pt x="1136320" y="0"/>
                    <a:pt x="1167319" y="30999"/>
                    <a:pt x="1167319" y="69239"/>
                  </a:cubicBezTo>
                  <a:lnTo>
                    <a:pt x="1167319" y="743561"/>
                  </a:lnTo>
                  <a:cubicBezTo>
                    <a:pt x="1167319" y="761925"/>
                    <a:pt x="1160024" y="779536"/>
                    <a:pt x="1147040" y="792521"/>
                  </a:cubicBezTo>
                  <a:cubicBezTo>
                    <a:pt x="1134055" y="805505"/>
                    <a:pt x="1116444" y="812800"/>
                    <a:pt x="1098081" y="812800"/>
                  </a:cubicBezTo>
                  <a:lnTo>
                    <a:pt x="69239" y="812800"/>
                  </a:lnTo>
                  <a:cubicBezTo>
                    <a:pt x="50875" y="812800"/>
                    <a:pt x="33264" y="805505"/>
                    <a:pt x="20279" y="792521"/>
                  </a:cubicBezTo>
                  <a:cubicBezTo>
                    <a:pt x="7295" y="779536"/>
                    <a:pt x="0" y="761925"/>
                    <a:pt x="0" y="743561"/>
                  </a:cubicBezTo>
                  <a:lnTo>
                    <a:pt x="0" y="69239"/>
                  </a:lnTo>
                  <a:cubicBezTo>
                    <a:pt x="0" y="50875"/>
                    <a:pt x="7295" y="33264"/>
                    <a:pt x="20279" y="20279"/>
                  </a:cubicBezTo>
                  <a:cubicBezTo>
                    <a:pt x="33264" y="7295"/>
                    <a:pt x="50875" y="0"/>
                    <a:pt x="69239" y="0"/>
                  </a:cubicBezTo>
                  <a:close/>
                </a:path>
              </a:pathLst>
            </a:custGeom>
            <a:blipFill>
              <a:blip r:embed="rId2"/>
              <a:stretch>
                <a:fillRect l="-365" t="0" r="-365" b="0"/>
              </a:stretch>
            </a:blipFill>
          </p:spPr>
        </p:sp>
      </p:grpSp>
      <p:sp>
        <p:nvSpPr>
          <p:cNvPr name="AutoShape 4" id="4"/>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Freeform 5" id="5"/>
          <p:cNvSpPr/>
          <p:nvPr/>
        </p:nvSpPr>
        <p:spPr>
          <a:xfrm flipH="false" flipV="false" rot="0">
            <a:off x="1708734" y="3045704"/>
            <a:ext cx="14465506" cy="5370319"/>
          </a:xfrm>
          <a:custGeom>
            <a:avLst/>
            <a:gdLst/>
            <a:ahLst/>
            <a:cxnLst/>
            <a:rect r="r" b="b" t="t" l="l"/>
            <a:pathLst>
              <a:path h="5370319" w="14465506">
                <a:moveTo>
                  <a:pt x="0" y="0"/>
                </a:moveTo>
                <a:lnTo>
                  <a:pt x="14465506" y="0"/>
                </a:lnTo>
                <a:lnTo>
                  <a:pt x="14465506" y="5370319"/>
                </a:lnTo>
                <a:lnTo>
                  <a:pt x="0" y="5370319"/>
                </a:lnTo>
                <a:lnTo>
                  <a:pt x="0" y="0"/>
                </a:lnTo>
                <a:close/>
              </a:path>
            </a:pathLst>
          </a:custGeom>
          <a:blipFill>
            <a:blip r:embed="rId3"/>
            <a:stretch>
              <a:fillRect l="0" t="0" r="0" b="0"/>
            </a:stretch>
          </a:blipFill>
        </p:spPr>
      </p:sp>
      <p:sp>
        <p:nvSpPr>
          <p:cNvPr name="TextBox 6" id="6"/>
          <p:cNvSpPr txBox="true"/>
          <p:nvPr/>
        </p:nvSpPr>
        <p:spPr>
          <a:xfrm rot="0">
            <a:off x="3511863" y="605087"/>
            <a:ext cx="12662377" cy="2041525"/>
          </a:xfrm>
          <a:prstGeom prst="rect">
            <a:avLst/>
          </a:prstGeom>
        </p:spPr>
        <p:txBody>
          <a:bodyPr anchor="t" rtlCol="false" tIns="0" lIns="0" bIns="0" rIns="0">
            <a:spAutoFit/>
          </a:bodyPr>
          <a:lstStyle/>
          <a:p>
            <a:pPr algn="l" marL="0" indent="0" lvl="0">
              <a:lnSpc>
                <a:spcPts val="7699"/>
              </a:lnSpc>
            </a:pPr>
            <a:r>
              <a:rPr lang="en-US" b="true" sz="6999" spc="-69">
                <a:solidFill>
                  <a:srgbClr val="2A9DF4"/>
                </a:solidFill>
                <a:latin typeface="Telegraf Bold"/>
                <a:ea typeface="Telegraf Bold"/>
                <a:cs typeface="Telegraf Bold"/>
                <a:sym typeface="Telegraf Bold"/>
              </a:rPr>
              <a:t>Summary S</a:t>
            </a:r>
            <a:r>
              <a:rPr lang="en-US" b="true" sz="6999" spc="-69">
                <a:solidFill>
                  <a:srgbClr val="2A9DF4"/>
                </a:solidFill>
                <a:latin typeface="Telegraf Bold"/>
                <a:ea typeface="Telegraf Bold"/>
                <a:cs typeface="Telegraf Bold"/>
                <a:sym typeface="Telegraf Bold"/>
              </a:rPr>
              <a:t>tatistics for Key Features:</a:t>
            </a:r>
          </a:p>
        </p:txBody>
      </p:sp>
      <p:sp>
        <p:nvSpPr>
          <p:cNvPr name="TextBox 7" id="7"/>
          <p:cNvSpPr txBox="true"/>
          <p:nvPr/>
        </p:nvSpPr>
        <p:spPr>
          <a:xfrm rot="0">
            <a:off x="17432103"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422859" y="614612"/>
            <a:ext cx="2571750" cy="1790700"/>
            <a:chOff x="0" y="0"/>
            <a:chExt cx="1167319" cy="812800"/>
          </a:xfrm>
        </p:grpSpPr>
        <p:sp>
          <p:nvSpPr>
            <p:cNvPr name="Freeform 3" id="3"/>
            <p:cNvSpPr/>
            <p:nvPr/>
          </p:nvSpPr>
          <p:spPr>
            <a:xfrm flipH="false" flipV="false" rot="0">
              <a:off x="0" y="0"/>
              <a:ext cx="1167319" cy="812800"/>
            </a:xfrm>
            <a:custGeom>
              <a:avLst/>
              <a:gdLst/>
              <a:ahLst/>
              <a:cxnLst/>
              <a:rect r="r" b="b" t="t" l="l"/>
              <a:pathLst>
                <a:path h="812800" w="1167319">
                  <a:moveTo>
                    <a:pt x="69239" y="0"/>
                  </a:moveTo>
                  <a:lnTo>
                    <a:pt x="1098081" y="0"/>
                  </a:lnTo>
                  <a:cubicBezTo>
                    <a:pt x="1136320" y="0"/>
                    <a:pt x="1167319" y="30999"/>
                    <a:pt x="1167319" y="69239"/>
                  </a:cubicBezTo>
                  <a:lnTo>
                    <a:pt x="1167319" y="743561"/>
                  </a:lnTo>
                  <a:cubicBezTo>
                    <a:pt x="1167319" y="761925"/>
                    <a:pt x="1160024" y="779536"/>
                    <a:pt x="1147040" y="792521"/>
                  </a:cubicBezTo>
                  <a:cubicBezTo>
                    <a:pt x="1134055" y="805505"/>
                    <a:pt x="1116444" y="812800"/>
                    <a:pt x="1098081" y="812800"/>
                  </a:cubicBezTo>
                  <a:lnTo>
                    <a:pt x="69239" y="812800"/>
                  </a:lnTo>
                  <a:cubicBezTo>
                    <a:pt x="50875" y="812800"/>
                    <a:pt x="33264" y="805505"/>
                    <a:pt x="20279" y="792521"/>
                  </a:cubicBezTo>
                  <a:cubicBezTo>
                    <a:pt x="7295" y="779536"/>
                    <a:pt x="0" y="761925"/>
                    <a:pt x="0" y="743561"/>
                  </a:cubicBezTo>
                  <a:lnTo>
                    <a:pt x="0" y="69239"/>
                  </a:lnTo>
                  <a:cubicBezTo>
                    <a:pt x="0" y="50875"/>
                    <a:pt x="7295" y="33264"/>
                    <a:pt x="20279" y="20279"/>
                  </a:cubicBezTo>
                  <a:cubicBezTo>
                    <a:pt x="33264" y="7295"/>
                    <a:pt x="50875" y="0"/>
                    <a:pt x="69239" y="0"/>
                  </a:cubicBezTo>
                  <a:close/>
                </a:path>
              </a:pathLst>
            </a:custGeom>
            <a:blipFill>
              <a:blip r:embed="rId2"/>
              <a:stretch>
                <a:fillRect l="-365" t="0" r="-365" b="0"/>
              </a:stretch>
            </a:blipFill>
          </p:spPr>
        </p:sp>
      </p:grpSp>
      <p:sp>
        <p:nvSpPr>
          <p:cNvPr name="AutoShape 4" id="4"/>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Freeform 5" id="5"/>
          <p:cNvSpPr/>
          <p:nvPr/>
        </p:nvSpPr>
        <p:spPr>
          <a:xfrm flipH="false" flipV="false" rot="0">
            <a:off x="4915757" y="2654045"/>
            <a:ext cx="8456486" cy="6754619"/>
          </a:xfrm>
          <a:custGeom>
            <a:avLst/>
            <a:gdLst/>
            <a:ahLst/>
            <a:cxnLst/>
            <a:rect r="r" b="b" t="t" l="l"/>
            <a:pathLst>
              <a:path h="6754619" w="8456486">
                <a:moveTo>
                  <a:pt x="0" y="0"/>
                </a:moveTo>
                <a:lnTo>
                  <a:pt x="8456486" y="0"/>
                </a:lnTo>
                <a:lnTo>
                  <a:pt x="8456486" y="6754619"/>
                </a:lnTo>
                <a:lnTo>
                  <a:pt x="0" y="6754619"/>
                </a:lnTo>
                <a:lnTo>
                  <a:pt x="0" y="0"/>
                </a:lnTo>
                <a:close/>
              </a:path>
            </a:pathLst>
          </a:custGeom>
          <a:blipFill>
            <a:blip r:embed="rId3"/>
            <a:stretch>
              <a:fillRect l="0" t="0" r="0" b="0"/>
            </a:stretch>
          </a:blipFill>
        </p:spPr>
      </p:sp>
      <p:sp>
        <p:nvSpPr>
          <p:cNvPr name="TextBox 6" id="6"/>
          <p:cNvSpPr txBox="true"/>
          <p:nvPr/>
        </p:nvSpPr>
        <p:spPr>
          <a:xfrm rot="0">
            <a:off x="3511863" y="595562"/>
            <a:ext cx="12662377" cy="1851660"/>
          </a:xfrm>
          <a:prstGeom prst="rect">
            <a:avLst/>
          </a:prstGeom>
        </p:spPr>
        <p:txBody>
          <a:bodyPr anchor="t" rtlCol="false" tIns="0" lIns="0" bIns="0" rIns="0">
            <a:spAutoFit/>
          </a:bodyPr>
          <a:lstStyle/>
          <a:p>
            <a:pPr algn="l" marL="0" indent="0" lvl="0">
              <a:lnSpc>
                <a:spcPts val="6930"/>
              </a:lnSpc>
            </a:pPr>
            <a:r>
              <a:rPr lang="en-US" b="true" sz="6300" spc="-63">
                <a:solidFill>
                  <a:srgbClr val="2A9DF4"/>
                </a:solidFill>
                <a:latin typeface="Telegraf Bold"/>
                <a:ea typeface="Telegraf Bold"/>
                <a:cs typeface="Telegraf Bold"/>
                <a:sym typeface="Telegraf Bold"/>
              </a:rPr>
              <a:t>Feature Correlation with Target Variable (Addiction Level)</a:t>
            </a:r>
          </a:p>
        </p:txBody>
      </p:sp>
      <p:sp>
        <p:nvSpPr>
          <p:cNvPr name="TextBox 7" id="7"/>
          <p:cNvSpPr txBox="true"/>
          <p:nvPr/>
        </p:nvSpPr>
        <p:spPr>
          <a:xfrm rot="0">
            <a:off x="17432103"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5</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457450"/>
            <a:chOff x="0" y="0"/>
            <a:chExt cx="4816593" cy="647230"/>
          </a:xfrm>
        </p:grpSpPr>
        <p:sp>
          <p:nvSpPr>
            <p:cNvPr name="Freeform 3" id="3"/>
            <p:cNvSpPr/>
            <p:nvPr/>
          </p:nvSpPr>
          <p:spPr>
            <a:xfrm flipH="false" flipV="false" rot="0">
              <a:off x="0" y="0"/>
              <a:ext cx="4816592" cy="647230"/>
            </a:xfrm>
            <a:custGeom>
              <a:avLst/>
              <a:gdLst/>
              <a:ahLst/>
              <a:cxnLst/>
              <a:rect r="r" b="b" t="t" l="l"/>
              <a:pathLst>
                <a:path h="647230" w="4816592">
                  <a:moveTo>
                    <a:pt x="0" y="0"/>
                  </a:moveTo>
                  <a:lnTo>
                    <a:pt x="4816592" y="0"/>
                  </a:lnTo>
                  <a:lnTo>
                    <a:pt x="4816592" y="647230"/>
                  </a:lnTo>
                  <a:lnTo>
                    <a:pt x="0" y="647230"/>
                  </a:lnTo>
                  <a:close/>
                </a:path>
              </a:pathLst>
            </a:custGeom>
            <a:solidFill>
              <a:srgbClr val="597389"/>
            </a:solidFill>
          </p:spPr>
        </p:sp>
        <p:sp>
          <p:nvSpPr>
            <p:cNvPr name="TextBox 4" id="4"/>
            <p:cNvSpPr txBox="true"/>
            <p:nvPr/>
          </p:nvSpPr>
          <p:spPr>
            <a:xfrm>
              <a:off x="0" y="-47625"/>
              <a:ext cx="4816593" cy="694855"/>
            </a:xfrm>
            <a:prstGeom prst="rect">
              <a:avLst/>
            </a:prstGeom>
          </p:spPr>
          <p:txBody>
            <a:bodyPr anchor="ctr" rtlCol="false" tIns="50800" lIns="50800" bIns="50800" rIns="50800"/>
            <a:lstStyle/>
            <a:p>
              <a:pPr algn="ctr">
                <a:lnSpc>
                  <a:spcPts val="2859"/>
                </a:lnSpc>
              </a:pPr>
            </a:p>
          </p:txBody>
        </p:sp>
      </p:grpSp>
      <p:sp>
        <p:nvSpPr>
          <p:cNvPr name="AutoShape 5" id="5"/>
          <p:cNvSpPr/>
          <p:nvPr/>
        </p:nvSpPr>
        <p:spPr>
          <a:xfrm>
            <a:off x="666750" y="5143500"/>
            <a:ext cx="16954500" cy="0"/>
          </a:xfrm>
          <a:prstGeom prst="line">
            <a:avLst/>
          </a:prstGeom>
          <a:ln cap="flat" w="9525">
            <a:solidFill>
              <a:srgbClr val="2A9DF4"/>
            </a:solidFill>
            <a:prstDash val="solid"/>
            <a:headEnd type="none" len="sm" w="sm"/>
            <a:tailEnd type="none" len="sm" w="sm"/>
          </a:ln>
        </p:spPr>
      </p:sp>
      <p:grpSp>
        <p:nvGrpSpPr>
          <p:cNvPr name="Group 6" id="6"/>
          <p:cNvGrpSpPr/>
          <p:nvPr/>
        </p:nvGrpSpPr>
        <p:grpSpPr>
          <a:xfrm rot="0">
            <a:off x="666750" y="5008305"/>
            <a:ext cx="270390" cy="27039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9DF4"/>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859"/>
                </a:lnSpc>
              </a:pPr>
            </a:p>
          </p:txBody>
        </p:sp>
      </p:grpSp>
      <p:grpSp>
        <p:nvGrpSpPr>
          <p:cNvPr name="Group 9" id="9"/>
          <p:cNvGrpSpPr/>
          <p:nvPr/>
        </p:nvGrpSpPr>
        <p:grpSpPr>
          <a:xfrm rot="0">
            <a:off x="7138988" y="5008305"/>
            <a:ext cx="270390" cy="27039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9DF4"/>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859"/>
                </a:lnSpc>
              </a:pPr>
            </a:p>
          </p:txBody>
        </p:sp>
      </p:grpSp>
      <p:sp>
        <p:nvSpPr>
          <p:cNvPr name="TextBox 12" id="12"/>
          <p:cNvSpPr txBox="true"/>
          <p:nvPr/>
        </p:nvSpPr>
        <p:spPr>
          <a:xfrm rot="0">
            <a:off x="857250" y="3767946"/>
            <a:ext cx="3819525" cy="476250"/>
          </a:xfrm>
          <a:prstGeom prst="rect">
            <a:avLst/>
          </a:prstGeom>
        </p:spPr>
        <p:txBody>
          <a:bodyPr anchor="t" rtlCol="false" tIns="0" lIns="0" bIns="0" rIns="0">
            <a:spAutoFit/>
          </a:bodyPr>
          <a:lstStyle/>
          <a:p>
            <a:pPr algn="l" marL="0" indent="0" lvl="0">
              <a:lnSpc>
                <a:spcPts val="3300"/>
              </a:lnSpc>
            </a:pPr>
            <a:r>
              <a:rPr lang="en-US" b="true" sz="3000" spc="-30">
                <a:solidFill>
                  <a:srgbClr val="121519"/>
                </a:solidFill>
                <a:latin typeface="Telegraf Bold"/>
                <a:ea typeface="Telegraf Bold"/>
                <a:cs typeface="Telegraf Bold"/>
                <a:sym typeface="Telegraf Bold"/>
              </a:rPr>
              <a:t>Data Loading</a:t>
            </a:r>
          </a:p>
        </p:txBody>
      </p:sp>
      <p:sp>
        <p:nvSpPr>
          <p:cNvPr name="TextBox 13" id="13"/>
          <p:cNvSpPr txBox="true"/>
          <p:nvPr/>
        </p:nvSpPr>
        <p:spPr>
          <a:xfrm rot="0">
            <a:off x="666750" y="5957734"/>
            <a:ext cx="4010025" cy="730250"/>
          </a:xfrm>
          <a:prstGeom prst="rect">
            <a:avLst/>
          </a:prstGeom>
        </p:spPr>
        <p:txBody>
          <a:bodyPr anchor="t" rtlCol="false" tIns="0" lIns="0" bIns="0" rIns="0">
            <a:spAutoFit/>
          </a:bodyPr>
          <a:lstStyle/>
          <a:p>
            <a:pPr algn="l" marL="0" indent="0" lvl="0">
              <a:lnSpc>
                <a:spcPts val="2800"/>
              </a:lnSpc>
            </a:pPr>
            <a:r>
              <a:rPr lang="en-US" sz="2000" spc="-20">
                <a:solidFill>
                  <a:srgbClr val="728CA3"/>
                </a:solidFill>
                <a:latin typeface="Telegraf"/>
                <a:ea typeface="Telegraf"/>
                <a:cs typeface="Telegraf"/>
                <a:sym typeface="Telegraf"/>
              </a:rPr>
              <a:t>Data is sourced and loaded into the analysis environment.</a:t>
            </a:r>
          </a:p>
        </p:txBody>
      </p:sp>
      <p:sp>
        <p:nvSpPr>
          <p:cNvPr name="TextBox 14" id="14"/>
          <p:cNvSpPr txBox="true"/>
          <p:nvPr/>
        </p:nvSpPr>
        <p:spPr>
          <a:xfrm rot="0">
            <a:off x="7140063" y="5957734"/>
            <a:ext cx="4007874" cy="730250"/>
          </a:xfrm>
          <a:prstGeom prst="rect">
            <a:avLst/>
          </a:prstGeom>
        </p:spPr>
        <p:txBody>
          <a:bodyPr anchor="t" rtlCol="false" tIns="0" lIns="0" bIns="0" rIns="0">
            <a:spAutoFit/>
          </a:bodyPr>
          <a:lstStyle/>
          <a:p>
            <a:pPr algn="l" marL="0" indent="0" lvl="0">
              <a:lnSpc>
                <a:spcPts val="2800"/>
              </a:lnSpc>
            </a:pPr>
            <a:r>
              <a:rPr lang="en-US" sz="2000" spc="-20">
                <a:solidFill>
                  <a:srgbClr val="728CA3"/>
                </a:solidFill>
                <a:latin typeface="Telegraf"/>
                <a:ea typeface="Telegraf"/>
                <a:cs typeface="Telegraf"/>
                <a:sym typeface="Telegraf"/>
              </a:rPr>
              <a:t>Initial data is cleaned and structured for further analysis.</a:t>
            </a:r>
          </a:p>
        </p:txBody>
      </p:sp>
      <p:sp>
        <p:nvSpPr>
          <p:cNvPr name="TextBox 15" id="15"/>
          <p:cNvSpPr txBox="true"/>
          <p:nvPr/>
        </p:nvSpPr>
        <p:spPr>
          <a:xfrm rot="0">
            <a:off x="7284091" y="3767946"/>
            <a:ext cx="3872679" cy="476250"/>
          </a:xfrm>
          <a:prstGeom prst="rect">
            <a:avLst/>
          </a:prstGeom>
        </p:spPr>
        <p:txBody>
          <a:bodyPr anchor="t" rtlCol="false" tIns="0" lIns="0" bIns="0" rIns="0">
            <a:spAutoFit/>
          </a:bodyPr>
          <a:lstStyle/>
          <a:p>
            <a:pPr algn="l" marL="0" indent="0" lvl="0">
              <a:lnSpc>
                <a:spcPts val="3300"/>
              </a:lnSpc>
              <a:spcBef>
                <a:spcPct val="0"/>
              </a:spcBef>
            </a:pPr>
            <a:r>
              <a:rPr lang="en-US" b="true" sz="3000" spc="-30" strike="noStrike" u="none">
                <a:solidFill>
                  <a:srgbClr val="121519"/>
                </a:solidFill>
                <a:latin typeface="Telegraf Bold"/>
                <a:ea typeface="Telegraf Bold"/>
                <a:cs typeface="Telegraf Bold"/>
                <a:sym typeface="Telegraf Bold"/>
              </a:rPr>
              <a:t>Preprocessing</a:t>
            </a:r>
          </a:p>
        </p:txBody>
      </p:sp>
      <p:sp>
        <p:nvSpPr>
          <p:cNvPr name="TextBox 16" id="16"/>
          <p:cNvSpPr txBox="true"/>
          <p:nvPr/>
        </p:nvSpPr>
        <p:spPr>
          <a:xfrm rot="0">
            <a:off x="13764085" y="3767946"/>
            <a:ext cx="3863118" cy="476250"/>
          </a:xfrm>
          <a:prstGeom prst="rect">
            <a:avLst/>
          </a:prstGeom>
        </p:spPr>
        <p:txBody>
          <a:bodyPr anchor="t" rtlCol="false" tIns="0" lIns="0" bIns="0" rIns="0">
            <a:spAutoFit/>
          </a:bodyPr>
          <a:lstStyle/>
          <a:p>
            <a:pPr algn="l" marL="0" indent="0" lvl="0">
              <a:lnSpc>
                <a:spcPts val="3300"/>
              </a:lnSpc>
              <a:spcBef>
                <a:spcPct val="0"/>
              </a:spcBef>
            </a:pPr>
            <a:r>
              <a:rPr lang="en-US" b="true" sz="3000" spc="-30" strike="noStrike" u="none">
                <a:solidFill>
                  <a:srgbClr val="121519"/>
                </a:solidFill>
                <a:latin typeface="Telegraf Bold"/>
                <a:ea typeface="Telegraf Bold"/>
                <a:cs typeface="Telegraf Bold"/>
                <a:sym typeface="Telegraf Bold"/>
              </a:rPr>
              <a:t>Model Training</a:t>
            </a:r>
          </a:p>
        </p:txBody>
      </p:sp>
      <p:sp>
        <p:nvSpPr>
          <p:cNvPr name="TextBox 17" id="17"/>
          <p:cNvSpPr txBox="true"/>
          <p:nvPr/>
        </p:nvSpPr>
        <p:spPr>
          <a:xfrm rot="0">
            <a:off x="666750" y="657225"/>
            <a:ext cx="16954500" cy="1069975"/>
          </a:xfrm>
          <a:prstGeom prst="rect">
            <a:avLst/>
          </a:prstGeom>
        </p:spPr>
        <p:txBody>
          <a:bodyPr anchor="t" rtlCol="false" tIns="0" lIns="0" bIns="0" rIns="0">
            <a:spAutoFit/>
          </a:bodyPr>
          <a:lstStyle/>
          <a:p>
            <a:pPr algn="ctr" marL="0" indent="0" lvl="0">
              <a:lnSpc>
                <a:spcPts val="7699"/>
              </a:lnSpc>
            </a:pPr>
            <a:r>
              <a:rPr lang="en-US" b="true" sz="6999" spc="-69">
                <a:solidFill>
                  <a:srgbClr val="2A9DF4"/>
                </a:solidFill>
                <a:latin typeface="Telegraf Bold"/>
                <a:ea typeface="Telegraf Bold"/>
                <a:cs typeface="Telegraf Bold"/>
                <a:sym typeface="Telegraf Bold"/>
              </a:rPr>
              <a:t>Methodology Overview</a:t>
            </a:r>
          </a:p>
        </p:txBody>
      </p:sp>
      <p:grpSp>
        <p:nvGrpSpPr>
          <p:cNvPr name="Group 18" id="18"/>
          <p:cNvGrpSpPr/>
          <p:nvPr/>
        </p:nvGrpSpPr>
        <p:grpSpPr>
          <a:xfrm rot="0">
            <a:off x="13611225" y="5008305"/>
            <a:ext cx="270390" cy="27039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9DF4"/>
            </a:soli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a:lnSpc>
                  <a:spcPts val="2859"/>
                </a:lnSpc>
              </a:pPr>
            </a:p>
          </p:txBody>
        </p:sp>
      </p:grpSp>
      <p:sp>
        <p:nvSpPr>
          <p:cNvPr name="TextBox 21" id="21"/>
          <p:cNvSpPr txBox="true"/>
          <p:nvPr/>
        </p:nvSpPr>
        <p:spPr>
          <a:xfrm rot="0">
            <a:off x="13611225" y="5957734"/>
            <a:ext cx="4010025" cy="730250"/>
          </a:xfrm>
          <a:prstGeom prst="rect">
            <a:avLst/>
          </a:prstGeom>
        </p:spPr>
        <p:txBody>
          <a:bodyPr anchor="t" rtlCol="false" tIns="0" lIns="0" bIns="0" rIns="0">
            <a:spAutoFit/>
          </a:bodyPr>
          <a:lstStyle/>
          <a:p>
            <a:pPr algn="l" marL="0" indent="0" lvl="0">
              <a:lnSpc>
                <a:spcPts val="2800"/>
              </a:lnSpc>
            </a:pPr>
            <a:r>
              <a:rPr lang="en-US" sz="2000" spc="-20">
                <a:solidFill>
                  <a:srgbClr val="728CA3"/>
                </a:solidFill>
                <a:latin typeface="Telegraf"/>
                <a:ea typeface="Telegraf"/>
                <a:cs typeface="Telegraf"/>
                <a:sym typeface="Telegraf"/>
              </a:rPr>
              <a:t>Various models are trained and evaluated for performance.</a:t>
            </a:r>
          </a:p>
        </p:txBody>
      </p:sp>
      <p:sp>
        <p:nvSpPr>
          <p:cNvPr name="AutoShape 22" id="22"/>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TextBox 23" id="23"/>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sp>
        <p:nvSpPr>
          <p:cNvPr name="AutoShape 2" id="2"/>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Freeform 3" id="3"/>
          <p:cNvSpPr/>
          <p:nvPr/>
        </p:nvSpPr>
        <p:spPr>
          <a:xfrm flipH="false" flipV="false" rot="0">
            <a:off x="8056111" y="2296100"/>
            <a:ext cx="9571092" cy="5694800"/>
          </a:xfrm>
          <a:custGeom>
            <a:avLst/>
            <a:gdLst/>
            <a:ahLst/>
            <a:cxnLst/>
            <a:rect r="r" b="b" t="t" l="l"/>
            <a:pathLst>
              <a:path h="5694800" w="9571092">
                <a:moveTo>
                  <a:pt x="0" y="0"/>
                </a:moveTo>
                <a:lnTo>
                  <a:pt x="9571092" y="0"/>
                </a:lnTo>
                <a:lnTo>
                  <a:pt x="9571092" y="5694800"/>
                </a:lnTo>
                <a:lnTo>
                  <a:pt x="0" y="5694800"/>
                </a:lnTo>
                <a:lnTo>
                  <a:pt x="0" y="0"/>
                </a:lnTo>
                <a:close/>
              </a:path>
            </a:pathLst>
          </a:custGeom>
          <a:blipFill>
            <a:blip r:embed="rId2"/>
            <a:stretch>
              <a:fillRect l="0" t="0" r="0" b="0"/>
            </a:stretch>
          </a:blipFill>
        </p:spPr>
      </p:sp>
      <p:grpSp>
        <p:nvGrpSpPr>
          <p:cNvPr name="Group 4" id="4"/>
          <p:cNvGrpSpPr/>
          <p:nvPr/>
        </p:nvGrpSpPr>
        <p:grpSpPr>
          <a:xfrm rot="0">
            <a:off x="679188" y="4412624"/>
            <a:ext cx="6861700" cy="1461751"/>
            <a:chOff x="0" y="0"/>
            <a:chExt cx="9148933" cy="1949002"/>
          </a:xfrm>
        </p:grpSpPr>
        <p:sp>
          <p:nvSpPr>
            <p:cNvPr name="TextBox 5" id="5"/>
            <p:cNvSpPr txBox="true"/>
            <p:nvPr/>
          </p:nvSpPr>
          <p:spPr>
            <a:xfrm rot="0">
              <a:off x="0" y="1000735"/>
              <a:ext cx="9148933" cy="948267"/>
            </a:xfrm>
            <a:prstGeom prst="rect">
              <a:avLst/>
            </a:prstGeom>
          </p:spPr>
          <p:txBody>
            <a:bodyPr anchor="t" rtlCol="false" tIns="0" lIns="0" bIns="0" rIns="0">
              <a:spAutoFit/>
            </a:bodyPr>
            <a:lstStyle/>
            <a:p>
              <a:pPr algn="l" marL="0" indent="0" lvl="0">
                <a:lnSpc>
                  <a:spcPts val="2800"/>
                </a:lnSpc>
              </a:pPr>
              <a:r>
                <a:rPr lang="en-US" sz="2000" spc="-20">
                  <a:solidFill>
                    <a:srgbClr val="728CA3"/>
                  </a:solidFill>
                  <a:latin typeface="Telegraf"/>
                  <a:ea typeface="Telegraf"/>
                  <a:cs typeface="Telegraf"/>
                  <a:sym typeface="Telegraf"/>
                </a:rPr>
                <a:t>An ensemble approach improving accuracy through aggregated predictions.</a:t>
              </a:r>
            </a:p>
          </p:txBody>
        </p:sp>
        <p:sp>
          <p:nvSpPr>
            <p:cNvPr name="TextBox 6" id="6"/>
            <p:cNvSpPr txBox="true"/>
            <p:nvPr/>
          </p:nvSpPr>
          <p:spPr>
            <a:xfrm rot="0">
              <a:off x="0" y="-19050"/>
              <a:ext cx="9148933" cy="628650"/>
            </a:xfrm>
            <a:prstGeom prst="rect">
              <a:avLst/>
            </a:prstGeom>
          </p:spPr>
          <p:txBody>
            <a:bodyPr anchor="t" rtlCol="false" tIns="0" lIns="0" bIns="0" rIns="0">
              <a:spAutoFit/>
            </a:bodyPr>
            <a:lstStyle/>
            <a:p>
              <a:pPr algn="l" marL="0" indent="0" lvl="0">
                <a:lnSpc>
                  <a:spcPts val="3300"/>
                </a:lnSpc>
              </a:pPr>
              <a:r>
                <a:rPr lang="en-US" b="true" sz="3000" spc="-30">
                  <a:solidFill>
                    <a:srgbClr val="728CA3"/>
                  </a:solidFill>
                  <a:latin typeface="Telegraf Bold"/>
                  <a:ea typeface="Telegraf Bold"/>
                  <a:cs typeface="Telegraf Bold"/>
                  <a:sym typeface="Telegraf Bold"/>
                </a:rPr>
                <a:t>Random Forest</a:t>
              </a:r>
            </a:p>
          </p:txBody>
        </p:sp>
      </p:grpSp>
      <p:grpSp>
        <p:nvGrpSpPr>
          <p:cNvPr name="Group 7" id="7"/>
          <p:cNvGrpSpPr/>
          <p:nvPr/>
        </p:nvGrpSpPr>
        <p:grpSpPr>
          <a:xfrm rot="0">
            <a:off x="679188" y="2339092"/>
            <a:ext cx="6861700" cy="1461751"/>
            <a:chOff x="0" y="0"/>
            <a:chExt cx="9148933" cy="1949002"/>
          </a:xfrm>
        </p:grpSpPr>
        <p:sp>
          <p:nvSpPr>
            <p:cNvPr name="TextBox 8" id="8"/>
            <p:cNvSpPr txBox="true"/>
            <p:nvPr/>
          </p:nvSpPr>
          <p:spPr>
            <a:xfrm rot="0">
              <a:off x="0" y="1000735"/>
              <a:ext cx="9148933" cy="948267"/>
            </a:xfrm>
            <a:prstGeom prst="rect">
              <a:avLst/>
            </a:prstGeom>
          </p:spPr>
          <p:txBody>
            <a:bodyPr anchor="t" rtlCol="false" tIns="0" lIns="0" bIns="0" rIns="0">
              <a:spAutoFit/>
            </a:bodyPr>
            <a:lstStyle/>
            <a:p>
              <a:pPr algn="l" marL="0" indent="0" lvl="0">
                <a:lnSpc>
                  <a:spcPts val="2800"/>
                </a:lnSpc>
              </a:pPr>
              <a:r>
                <a:rPr lang="en-US" sz="2000" spc="-20">
                  <a:solidFill>
                    <a:srgbClr val="728CA3"/>
                  </a:solidFill>
                  <a:latin typeface="Telegraf"/>
                  <a:ea typeface="Telegraf"/>
                  <a:cs typeface="Telegraf"/>
                  <a:sym typeface="Telegraf"/>
                </a:rPr>
                <a:t>This model predicts addiction based on linear relationships</a:t>
              </a:r>
            </a:p>
            <a:p>
              <a:pPr algn="l" marL="0" indent="0" lvl="0">
                <a:lnSpc>
                  <a:spcPts val="2800"/>
                </a:lnSpc>
              </a:pPr>
              <a:r>
                <a:rPr lang="en-US" sz="2000" spc="-20">
                  <a:solidFill>
                    <a:srgbClr val="728CA3"/>
                  </a:solidFill>
                  <a:latin typeface="Telegraf"/>
                  <a:ea typeface="Telegraf"/>
                  <a:cs typeface="Telegraf"/>
                  <a:sym typeface="Telegraf"/>
                </a:rPr>
                <a:t>We are using overSampling..</a:t>
              </a:r>
            </a:p>
          </p:txBody>
        </p:sp>
        <p:sp>
          <p:nvSpPr>
            <p:cNvPr name="TextBox 9" id="9"/>
            <p:cNvSpPr txBox="true"/>
            <p:nvPr/>
          </p:nvSpPr>
          <p:spPr>
            <a:xfrm rot="0">
              <a:off x="0" y="-19050"/>
              <a:ext cx="9148933" cy="628650"/>
            </a:xfrm>
            <a:prstGeom prst="rect">
              <a:avLst/>
            </a:prstGeom>
          </p:spPr>
          <p:txBody>
            <a:bodyPr anchor="t" rtlCol="false" tIns="0" lIns="0" bIns="0" rIns="0">
              <a:spAutoFit/>
            </a:bodyPr>
            <a:lstStyle/>
            <a:p>
              <a:pPr algn="l" marL="0" indent="0" lvl="0">
                <a:lnSpc>
                  <a:spcPts val="3300"/>
                </a:lnSpc>
              </a:pPr>
              <a:r>
                <a:rPr lang="en-US" b="true" sz="3000" spc="-30">
                  <a:solidFill>
                    <a:srgbClr val="728CA3"/>
                  </a:solidFill>
                  <a:latin typeface="Telegraf Bold"/>
                  <a:ea typeface="Telegraf Bold"/>
                  <a:cs typeface="Telegraf Bold"/>
                  <a:sym typeface="Telegraf Bold"/>
                </a:rPr>
                <a:t>Logistic Regression</a:t>
              </a:r>
            </a:p>
          </p:txBody>
        </p:sp>
      </p:grpSp>
      <p:grpSp>
        <p:nvGrpSpPr>
          <p:cNvPr name="Group 10" id="10"/>
          <p:cNvGrpSpPr/>
          <p:nvPr/>
        </p:nvGrpSpPr>
        <p:grpSpPr>
          <a:xfrm rot="0">
            <a:off x="694572" y="6510777"/>
            <a:ext cx="6858753" cy="1480123"/>
            <a:chOff x="0" y="0"/>
            <a:chExt cx="9145004" cy="1973498"/>
          </a:xfrm>
        </p:grpSpPr>
        <p:sp>
          <p:nvSpPr>
            <p:cNvPr name="TextBox 11" id="11"/>
            <p:cNvSpPr txBox="true"/>
            <p:nvPr/>
          </p:nvSpPr>
          <p:spPr>
            <a:xfrm rot="0">
              <a:off x="0" y="-19050"/>
              <a:ext cx="9145004" cy="628650"/>
            </a:xfrm>
            <a:prstGeom prst="rect">
              <a:avLst/>
            </a:prstGeom>
          </p:spPr>
          <p:txBody>
            <a:bodyPr anchor="t" rtlCol="false" tIns="0" lIns="0" bIns="0" rIns="0">
              <a:spAutoFit/>
            </a:bodyPr>
            <a:lstStyle/>
            <a:p>
              <a:pPr algn="l" marL="0" indent="0" lvl="0">
                <a:lnSpc>
                  <a:spcPts val="3300"/>
                </a:lnSpc>
              </a:pPr>
              <a:r>
                <a:rPr lang="en-US" b="true" sz="3000" spc="-30">
                  <a:solidFill>
                    <a:srgbClr val="728CA3"/>
                  </a:solidFill>
                  <a:latin typeface="Telegraf Bold"/>
                  <a:ea typeface="Telegraf Bold"/>
                  <a:cs typeface="Telegraf Bold"/>
                  <a:sym typeface="Telegraf Bold"/>
                </a:rPr>
                <a:t>XGBoost</a:t>
              </a:r>
            </a:p>
          </p:txBody>
        </p:sp>
        <p:sp>
          <p:nvSpPr>
            <p:cNvPr name="TextBox 12" id="12"/>
            <p:cNvSpPr txBox="true"/>
            <p:nvPr/>
          </p:nvSpPr>
          <p:spPr>
            <a:xfrm rot="0">
              <a:off x="0" y="1025231"/>
              <a:ext cx="9145004" cy="948267"/>
            </a:xfrm>
            <a:prstGeom prst="rect">
              <a:avLst/>
            </a:prstGeom>
          </p:spPr>
          <p:txBody>
            <a:bodyPr anchor="t" rtlCol="false" tIns="0" lIns="0" bIns="0" rIns="0">
              <a:spAutoFit/>
            </a:bodyPr>
            <a:lstStyle/>
            <a:p>
              <a:pPr algn="l" marL="0" indent="0" lvl="0">
                <a:lnSpc>
                  <a:spcPts val="2800"/>
                </a:lnSpc>
              </a:pPr>
              <a:r>
                <a:rPr lang="en-US" sz="2000" spc="-20">
                  <a:solidFill>
                    <a:srgbClr val="728CA3"/>
                  </a:solidFill>
                  <a:latin typeface="Telegraf"/>
                  <a:ea typeface="Telegraf"/>
                  <a:cs typeface="Telegraf"/>
                  <a:sym typeface="Telegraf"/>
                </a:rPr>
                <a:t>Boosting technique optimizing performance for complex data patterns.</a:t>
              </a:r>
            </a:p>
          </p:txBody>
        </p:sp>
      </p:grpSp>
      <p:sp>
        <p:nvSpPr>
          <p:cNvPr name="TextBox 13" id="13"/>
          <p:cNvSpPr txBox="true"/>
          <p:nvPr/>
        </p:nvSpPr>
        <p:spPr>
          <a:xfrm rot="0">
            <a:off x="666750" y="657337"/>
            <a:ext cx="6886575" cy="1069975"/>
          </a:xfrm>
          <a:prstGeom prst="rect">
            <a:avLst/>
          </a:prstGeom>
        </p:spPr>
        <p:txBody>
          <a:bodyPr anchor="t" rtlCol="false" tIns="0" lIns="0" bIns="0" rIns="0">
            <a:spAutoFit/>
          </a:bodyPr>
          <a:lstStyle/>
          <a:p>
            <a:pPr algn="l" marL="0" indent="0" lvl="0">
              <a:lnSpc>
                <a:spcPts val="7699"/>
              </a:lnSpc>
            </a:pPr>
            <a:r>
              <a:rPr lang="en-US" b="true" sz="6999" spc="-69">
                <a:solidFill>
                  <a:srgbClr val="2A9DF4"/>
                </a:solidFill>
                <a:latin typeface="Telegraf Bold"/>
                <a:ea typeface="Telegraf Bold"/>
                <a:cs typeface="Telegraf Bold"/>
                <a:sym typeface="Telegraf Bold"/>
              </a:rPr>
              <a:t>Models Used</a:t>
            </a:r>
          </a:p>
        </p:txBody>
      </p:sp>
      <p:sp>
        <p:nvSpPr>
          <p:cNvPr name="TextBox 14" id="14"/>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7</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121519"/>
        </a:solidFill>
      </p:bgPr>
    </p:bg>
    <p:spTree>
      <p:nvGrpSpPr>
        <p:cNvPr id="1" name=""/>
        <p:cNvGrpSpPr/>
        <p:nvPr/>
      </p:nvGrpSpPr>
      <p:grpSpPr>
        <a:xfrm>
          <a:off x="0" y="0"/>
          <a:ext cx="0" cy="0"/>
          <a:chOff x="0" y="0"/>
          <a:chExt cx="0" cy="0"/>
        </a:xfrm>
      </p:grpSpPr>
      <p:sp>
        <p:nvSpPr>
          <p:cNvPr name="TextBox 2" id="2"/>
          <p:cNvSpPr txBox="true"/>
          <p:nvPr/>
        </p:nvSpPr>
        <p:spPr>
          <a:xfrm rot="0">
            <a:off x="-619125" y="6933557"/>
            <a:ext cx="6886575" cy="476250"/>
          </a:xfrm>
          <a:prstGeom prst="rect">
            <a:avLst/>
          </a:prstGeom>
        </p:spPr>
        <p:txBody>
          <a:bodyPr anchor="t" rtlCol="false" tIns="0" lIns="0" bIns="0" rIns="0">
            <a:spAutoFit/>
          </a:bodyPr>
          <a:lstStyle/>
          <a:p>
            <a:pPr algn="ctr" marL="0" indent="0" lvl="0">
              <a:lnSpc>
                <a:spcPts val="3300"/>
              </a:lnSpc>
            </a:pPr>
            <a:r>
              <a:rPr lang="en-US" b="true" sz="3000" spc="-30">
                <a:solidFill>
                  <a:srgbClr val="2A9DF4"/>
                </a:solidFill>
                <a:latin typeface="Telegraf Bold"/>
                <a:ea typeface="Telegraf Bold"/>
                <a:cs typeface="Telegraf Bold"/>
                <a:sym typeface="Telegraf Bold"/>
              </a:rPr>
              <a:t>Logistic Regression</a:t>
            </a:r>
          </a:p>
        </p:txBody>
      </p:sp>
      <p:grpSp>
        <p:nvGrpSpPr>
          <p:cNvPr name="Group 3" id="3"/>
          <p:cNvGrpSpPr/>
          <p:nvPr/>
        </p:nvGrpSpPr>
        <p:grpSpPr>
          <a:xfrm rot="0">
            <a:off x="666750" y="1724025"/>
            <a:ext cx="4314825" cy="431482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9DF4"/>
            </a:soli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2419"/>
                </a:lnSpc>
              </a:pPr>
            </a:p>
          </p:txBody>
        </p:sp>
      </p:grpSp>
      <p:sp>
        <p:nvSpPr>
          <p:cNvPr name="TextBox 6" id="6"/>
          <p:cNvSpPr txBox="true"/>
          <p:nvPr/>
        </p:nvSpPr>
        <p:spPr>
          <a:xfrm rot="0">
            <a:off x="1234932" y="3176587"/>
            <a:ext cx="3178462" cy="1390650"/>
          </a:xfrm>
          <a:prstGeom prst="rect">
            <a:avLst/>
          </a:prstGeom>
        </p:spPr>
        <p:txBody>
          <a:bodyPr anchor="t" rtlCol="false" tIns="0" lIns="0" bIns="0" rIns="0">
            <a:spAutoFit/>
          </a:bodyPr>
          <a:lstStyle/>
          <a:p>
            <a:pPr algn="ctr" marL="0" indent="0" lvl="0">
              <a:lnSpc>
                <a:spcPts val="9900"/>
              </a:lnSpc>
            </a:pPr>
            <a:r>
              <a:rPr lang="en-US" b="true" sz="9000" spc="-89">
                <a:solidFill>
                  <a:srgbClr val="121519"/>
                </a:solidFill>
                <a:latin typeface="Telegraf Bold"/>
                <a:ea typeface="Telegraf Bold"/>
                <a:cs typeface="Telegraf Bold"/>
                <a:sym typeface="Telegraf Bold"/>
              </a:rPr>
              <a:t>93</a:t>
            </a:r>
            <a:r>
              <a:rPr lang="en-US" b="true" sz="9000" spc="-89">
                <a:solidFill>
                  <a:srgbClr val="121519"/>
                </a:solidFill>
                <a:latin typeface="Telegraf Bold"/>
                <a:ea typeface="Telegraf Bold"/>
                <a:cs typeface="Telegraf Bold"/>
                <a:sym typeface="Telegraf Bold"/>
              </a:rPr>
              <a:t>%</a:t>
            </a:r>
          </a:p>
        </p:txBody>
      </p:sp>
      <p:grpSp>
        <p:nvGrpSpPr>
          <p:cNvPr name="Group 7" id="7"/>
          <p:cNvGrpSpPr/>
          <p:nvPr/>
        </p:nvGrpSpPr>
        <p:grpSpPr>
          <a:xfrm rot="0">
            <a:off x="6986588" y="1723995"/>
            <a:ext cx="4314825" cy="4314765"/>
            <a:chOff x="0" y="0"/>
            <a:chExt cx="812800" cy="812789"/>
          </a:xfrm>
        </p:grpSpPr>
        <p:sp>
          <p:nvSpPr>
            <p:cNvPr name="Freeform 8" id="8"/>
            <p:cNvSpPr/>
            <p:nvPr/>
          </p:nvSpPr>
          <p:spPr>
            <a:xfrm flipH="false" flipV="false" rot="0">
              <a:off x="0" y="0"/>
              <a:ext cx="812800" cy="812789"/>
            </a:xfrm>
            <a:custGeom>
              <a:avLst/>
              <a:gdLst/>
              <a:ahLst/>
              <a:cxnLst/>
              <a:rect r="r" b="b" t="t" l="l"/>
              <a:pathLst>
                <a:path h="812789" w="812800">
                  <a:moveTo>
                    <a:pt x="406400" y="0"/>
                  </a:moveTo>
                  <a:cubicBezTo>
                    <a:pt x="181951" y="0"/>
                    <a:pt x="0" y="181949"/>
                    <a:pt x="0" y="406394"/>
                  </a:cubicBezTo>
                  <a:cubicBezTo>
                    <a:pt x="0" y="630840"/>
                    <a:pt x="181951" y="812789"/>
                    <a:pt x="406400" y="812789"/>
                  </a:cubicBezTo>
                  <a:cubicBezTo>
                    <a:pt x="630849" y="812789"/>
                    <a:pt x="812800" y="630840"/>
                    <a:pt x="812800" y="406394"/>
                  </a:cubicBezTo>
                  <a:cubicBezTo>
                    <a:pt x="812800" y="181949"/>
                    <a:pt x="630849" y="0"/>
                    <a:pt x="406400" y="0"/>
                  </a:cubicBezTo>
                  <a:close/>
                </a:path>
              </a:pathLst>
            </a:custGeom>
            <a:solidFill>
              <a:srgbClr val="2A9DF4"/>
            </a:solidFill>
          </p:spPr>
        </p:sp>
        <p:sp>
          <p:nvSpPr>
            <p:cNvPr name="TextBox 9" id="9"/>
            <p:cNvSpPr txBox="true"/>
            <p:nvPr/>
          </p:nvSpPr>
          <p:spPr>
            <a:xfrm>
              <a:off x="76200" y="66674"/>
              <a:ext cx="660400" cy="669916"/>
            </a:xfrm>
            <a:prstGeom prst="rect">
              <a:avLst/>
            </a:prstGeom>
          </p:spPr>
          <p:txBody>
            <a:bodyPr anchor="ctr" rtlCol="false" tIns="50800" lIns="50800" bIns="50800" rIns="50800"/>
            <a:lstStyle/>
            <a:p>
              <a:pPr algn="ctr">
                <a:lnSpc>
                  <a:spcPts val="2419"/>
                </a:lnSpc>
              </a:pPr>
            </a:p>
          </p:txBody>
        </p:sp>
      </p:grpSp>
      <p:sp>
        <p:nvSpPr>
          <p:cNvPr name="TextBox 10" id="10"/>
          <p:cNvSpPr txBox="true"/>
          <p:nvPr/>
        </p:nvSpPr>
        <p:spPr>
          <a:xfrm rot="0">
            <a:off x="7568736" y="3352157"/>
            <a:ext cx="3150528" cy="1390650"/>
          </a:xfrm>
          <a:prstGeom prst="rect">
            <a:avLst/>
          </a:prstGeom>
        </p:spPr>
        <p:txBody>
          <a:bodyPr anchor="t" rtlCol="false" tIns="0" lIns="0" bIns="0" rIns="0">
            <a:spAutoFit/>
          </a:bodyPr>
          <a:lstStyle/>
          <a:p>
            <a:pPr algn="ctr" marL="0" indent="0" lvl="0">
              <a:lnSpc>
                <a:spcPts val="9900"/>
              </a:lnSpc>
            </a:pPr>
            <a:r>
              <a:rPr lang="en-US" b="true" sz="9000" spc="-89">
                <a:solidFill>
                  <a:srgbClr val="121519"/>
                </a:solidFill>
                <a:latin typeface="Telegraf Bold"/>
                <a:ea typeface="Telegraf Bold"/>
                <a:cs typeface="Telegraf Bold"/>
                <a:sym typeface="Telegraf Bold"/>
              </a:rPr>
              <a:t>94</a:t>
            </a:r>
            <a:r>
              <a:rPr lang="en-US" b="true" sz="9000" spc="-89" strike="noStrike" u="none">
                <a:solidFill>
                  <a:srgbClr val="121519"/>
                </a:solidFill>
                <a:latin typeface="Telegraf Bold"/>
                <a:ea typeface="Telegraf Bold"/>
                <a:cs typeface="Telegraf Bold"/>
                <a:sym typeface="Telegraf Bold"/>
              </a:rPr>
              <a:t>%</a:t>
            </a:r>
          </a:p>
        </p:txBody>
      </p:sp>
      <p:sp>
        <p:nvSpPr>
          <p:cNvPr name="AutoShape 11" id="11"/>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TextBox 12" id="12"/>
          <p:cNvSpPr txBox="true"/>
          <p:nvPr/>
        </p:nvSpPr>
        <p:spPr>
          <a:xfrm rot="0">
            <a:off x="17410929"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8</a:t>
            </a:r>
          </a:p>
        </p:txBody>
      </p:sp>
      <p:sp>
        <p:nvSpPr>
          <p:cNvPr name="TextBox 13" id="13"/>
          <p:cNvSpPr txBox="true"/>
          <p:nvPr/>
        </p:nvSpPr>
        <p:spPr>
          <a:xfrm rot="0">
            <a:off x="5700712" y="6933557"/>
            <a:ext cx="6886575" cy="476250"/>
          </a:xfrm>
          <a:prstGeom prst="rect">
            <a:avLst/>
          </a:prstGeom>
        </p:spPr>
        <p:txBody>
          <a:bodyPr anchor="t" rtlCol="false" tIns="0" lIns="0" bIns="0" rIns="0">
            <a:spAutoFit/>
          </a:bodyPr>
          <a:lstStyle/>
          <a:p>
            <a:pPr algn="ctr" marL="0" indent="0" lvl="0">
              <a:lnSpc>
                <a:spcPts val="3300"/>
              </a:lnSpc>
            </a:pPr>
            <a:r>
              <a:rPr lang="en-US" b="true" sz="3000" spc="-30">
                <a:solidFill>
                  <a:srgbClr val="2A9DF4"/>
                </a:solidFill>
                <a:latin typeface="Telegraf Bold"/>
                <a:ea typeface="Telegraf Bold"/>
                <a:cs typeface="Telegraf Bold"/>
                <a:sym typeface="Telegraf Bold"/>
              </a:rPr>
              <a:t>Random Forest</a:t>
            </a:r>
          </a:p>
        </p:txBody>
      </p:sp>
      <p:grpSp>
        <p:nvGrpSpPr>
          <p:cNvPr name="Group 14" id="14"/>
          <p:cNvGrpSpPr/>
          <p:nvPr/>
        </p:nvGrpSpPr>
        <p:grpSpPr>
          <a:xfrm rot="0">
            <a:off x="12961624" y="1723995"/>
            <a:ext cx="4314825" cy="4314765"/>
            <a:chOff x="0" y="0"/>
            <a:chExt cx="812800" cy="812789"/>
          </a:xfrm>
        </p:grpSpPr>
        <p:sp>
          <p:nvSpPr>
            <p:cNvPr name="Freeform 15" id="15"/>
            <p:cNvSpPr/>
            <p:nvPr/>
          </p:nvSpPr>
          <p:spPr>
            <a:xfrm flipH="false" flipV="false" rot="0">
              <a:off x="0" y="0"/>
              <a:ext cx="812800" cy="812789"/>
            </a:xfrm>
            <a:custGeom>
              <a:avLst/>
              <a:gdLst/>
              <a:ahLst/>
              <a:cxnLst/>
              <a:rect r="r" b="b" t="t" l="l"/>
              <a:pathLst>
                <a:path h="812789" w="812800">
                  <a:moveTo>
                    <a:pt x="406400" y="0"/>
                  </a:moveTo>
                  <a:cubicBezTo>
                    <a:pt x="181951" y="0"/>
                    <a:pt x="0" y="181949"/>
                    <a:pt x="0" y="406394"/>
                  </a:cubicBezTo>
                  <a:cubicBezTo>
                    <a:pt x="0" y="630840"/>
                    <a:pt x="181951" y="812789"/>
                    <a:pt x="406400" y="812789"/>
                  </a:cubicBezTo>
                  <a:cubicBezTo>
                    <a:pt x="630849" y="812789"/>
                    <a:pt x="812800" y="630840"/>
                    <a:pt x="812800" y="406394"/>
                  </a:cubicBezTo>
                  <a:cubicBezTo>
                    <a:pt x="812800" y="181949"/>
                    <a:pt x="630849" y="0"/>
                    <a:pt x="406400" y="0"/>
                  </a:cubicBezTo>
                  <a:close/>
                </a:path>
              </a:pathLst>
            </a:custGeom>
            <a:solidFill>
              <a:srgbClr val="2A9DF4"/>
            </a:solidFill>
          </p:spPr>
        </p:sp>
        <p:sp>
          <p:nvSpPr>
            <p:cNvPr name="TextBox 16" id="16"/>
            <p:cNvSpPr txBox="true"/>
            <p:nvPr/>
          </p:nvSpPr>
          <p:spPr>
            <a:xfrm>
              <a:off x="76200" y="66674"/>
              <a:ext cx="660400" cy="669916"/>
            </a:xfrm>
            <a:prstGeom prst="rect">
              <a:avLst/>
            </a:prstGeom>
          </p:spPr>
          <p:txBody>
            <a:bodyPr anchor="ctr" rtlCol="false" tIns="50800" lIns="50800" bIns="50800" rIns="50800"/>
            <a:lstStyle/>
            <a:p>
              <a:pPr algn="ctr">
                <a:lnSpc>
                  <a:spcPts val="2419"/>
                </a:lnSpc>
              </a:pPr>
            </a:p>
          </p:txBody>
        </p:sp>
      </p:grpSp>
      <p:sp>
        <p:nvSpPr>
          <p:cNvPr name="TextBox 17" id="17"/>
          <p:cNvSpPr txBox="true"/>
          <p:nvPr/>
        </p:nvSpPr>
        <p:spPr>
          <a:xfrm rot="0">
            <a:off x="13543773" y="3176527"/>
            <a:ext cx="3150528" cy="1390650"/>
          </a:xfrm>
          <a:prstGeom prst="rect">
            <a:avLst/>
          </a:prstGeom>
        </p:spPr>
        <p:txBody>
          <a:bodyPr anchor="t" rtlCol="false" tIns="0" lIns="0" bIns="0" rIns="0">
            <a:spAutoFit/>
          </a:bodyPr>
          <a:lstStyle/>
          <a:p>
            <a:pPr algn="ctr" marL="0" indent="0" lvl="0">
              <a:lnSpc>
                <a:spcPts val="9900"/>
              </a:lnSpc>
            </a:pPr>
            <a:r>
              <a:rPr lang="en-US" b="true" sz="9000" spc="-89">
                <a:solidFill>
                  <a:srgbClr val="121519"/>
                </a:solidFill>
                <a:latin typeface="Telegraf Bold"/>
                <a:ea typeface="Telegraf Bold"/>
                <a:cs typeface="Telegraf Bold"/>
                <a:sym typeface="Telegraf Bold"/>
              </a:rPr>
              <a:t>96</a:t>
            </a:r>
            <a:r>
              <a:rPr lang="en-US" b="true" sz="9000" spc="-89" strike="noStrike" u="none">
                <a:solidFill>
                  <a:srgbClr val="121519"/>
                </a:solidFill>
                <a:latin typeface="Telegraf Bold"/>
                <a:ea typeface="Telegraf Bold"/>
                <a:cs typeface="Telegraf Bold"/>
                <a:sym typeface="Telegraf Bold"/>
              </a:rPr>
              <a:t>%</a:t>
            </a:r>
          </a:p>
        </p:txBody>
      </p:sp>
      <p:sp>
        <p:nvSpPr>
          <p:cNvPr name="TextBox 18" id="18"/>
          <p:cNvSpPr txBox="true"/>
          <p:nvPr/>
        </p:nvSpPr>
        <p:spPr>
          <a:xfrm rot="0">
            <a:off x="11675749" y="6933557"/>
            <a:ext cx="6886575" cy="476250"/>
          </a:xfrm>
          <a:prstGeom prst="rect">
            <a:avLst/>
          </a:prstGeom>
        </p:spPr>
        <p:txBody>
          <a:bodyPr anchor="t" rtlCol="false" tIns="0" lIns="0" bIns="0" rIns="0">
            <a:spAutoFit/>
          </a:bodyPr>
          <a:lstStyle/>
          <a:p>
            <a:pPr algn="ctr" marL="0" indent="0" lvl="0">
              <a:lnSpc>
                <a:spcPts val="3300"/>
              </a:lnSpc>
            </a:pPr>
            <a:r>
              <a:rPr lang="en-US" b="true" sz="3000" spc="-30">
                <a:solidFill>
                  <a:srgbClr val="2A9DF4"/>
                </a:solidFill>
                <a:latin typeface="Telegraf Bold"/>
                <a:ea typeface="Telegraf Bold"/>
                <a:cs typeface="Telegraf Bold"/>
                <a:sym typeface="Telegraf Bold"/>
              </a:rPr>
              <a:t>XGboost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688092" y="2300609"/>
            <a:ext cx="4314825" cy="431482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9DF4"/>
            </a:solidFill>
          </p:spPr>
        </p:sp>
        <p:sp>
          <p:nvSpPr>
            <p:cNvPr name="TextBox 4" id="4"/>
            <p:cNvSpPr txBox="true"/>
            <p:nvPr/>
          </p:nvSpPr>
          <p:spPr>
            <a:xfrm>
              <a:off x="76200" y="66675"/>
              <a:ext cx="660400" cy="669925"/>
            </a:xfrm>
            <a:prstGeom prst="rect">
              <a:avLst/>
            </a:prstGeom>
          </p:spPr>
          <p:txBody>
            <a:bodyPr anchor="ctr" rtlCol="false" tIns="50800" lIns="50800" bIns="50800" rIns="50800"/>
            <a:lstStyle/>
            <a:p>
              <a:pPr algn="ctr">
                <a:lnSpc>
                  <a:spcPts val="2419"/>
                </a:lnSpc>
              </a:pPr>
            </a:p>
          </p:txBody>
        </p:sp>
      </p:grpSp>
      <p:sp>
        <p:nvSpPr>
          <p:cNvPr name="AutoShape 5" id="5"/>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Freeform 6" id="6"/>
          <p:cNvSpPr/>
          <p:nvPr/>
        </p:nvSpPr>
        <p:spPr>
          <a:xfrm flipH="false" flipV="false" rot="0">
            <a:off x="6725489" y="2528915"/>
            <a:ext cx="7361944" cy="5741390"/>
          </a:xfrm>
          <a:custGeom>
            <a:avLst/>
            <a:gdLst/>
            <a:ahLst/>
            <a:cxnLst/>
            <a:rect r="r" b="b" t="t" l="l"/>
            <a:pathLst>
              <a:path h="5741390" w="7361944">
                <a:moveTo>
                  <a:pt x="0" y="0"/>
                </a:moveTo>
                <a:lnTo>
                  <a:pt x="7361944" y="0"/>
                </a:lnTo>
                <a:lnTo>
                  <a:pt x="7361944" y="5741390"/>
                </a:lnTo>
                <a:lnTo>
                  <a:pt x="0" y="5741390"/>
                </a:lnTo>
                <a:lnTo>
                  <a:pt x="0" y="0"/>
                </a:lnTo>
                <a:close/>
              </a:path>
            </a:pathLst>
          </a:custGeom>
          <a:blipFill>
            <a:blip r:embed="rId2"/>
            <a:stretch>
              <a:fillRect l="0" t="0" r="0" b="0"/>
            </a:stretch>
          </a:blipFill>
        </p:spPr>
      </p:sp>
      <p:sp>
        <p:nvSpPr>
          <p:cNvPr name="TextBox 7" id="7"/>
          <p:cNvSpPr txBox="true"/>
          <p:nvPr/>
        </p:nvSpPr>
        <p:spPr>
          <a:xfrm rot="0">
            <a:off x="-597783" y="7510141"/>
            <a:ext cx="6886575" cy="476250"/>
          </a:xfrm>
          <a:prstGeom prst="rect">
            <a:avLst/>
          </a:prstGeom>
        </p:spPr>
        <p:txBody>
          <a:bodyPr anchor="t" rtlCol="false" tIns="0" lIns="0" bIns="0" rIns="0">
            <a:spAutoFit/>
          </a:bodyPr>
          <a:lstStyle/>
          <a:p>
            <a:pPr algn="ctr" marL="0" indent="0" lvl="0">
              <a:lnSpc>
                <a:spcPts val="3300"/>
              </a:lnSpc>
            </a:pPr>
            <a:r>
              <a:rPr lang="en-US" b="true" sz="3000" spc="-30">
                <a:solidFill>
                  <a:srgbClr val="2A9DF4"/>
                </a:solidFill>
                <a:latin typeface="Telegraf Bold"/>
                <a:ea typeface="Telegraf Bold"/>
                <a:cs typeface="Telegraf Bold"/>
                <a:sym typeface="Telegraf Bold"/>
              </a:rPr>
              <a:t>Logistic Regression</a:t>
            </a:r>
          </a:p>
        </p:txBody>
      </p:sp>
      <p:sp>
        <p:nvSpPr>
          <p:cNvPr name="TextBox 8" id="8"/>
          <p:cNvSpPr txBox="true"/>
          <p:nvPr/>
        </p:nvSpPr>
        <p:spPr>
          <a:xfrm rot="0">
            <a:off x="1256274" y="3753171"/>
            <a:ext cx="3178462" cy="1390650"/>
          </a:xfrm>
          <a:prstGeom prst="rect">
            <a:avLst/>
          </a:prstGeom>
        </p:spPr>
        <p:txBody>
          <a:bodyPr anchor="t" rtlCol="false" tIns="0" lIns="0" bIns="0" rIns="0">
            <a:spAutoFit/>
          </a:bodyPr>
          <a:lstStyle/>
          <a:p>
            <a:pPr algn="ctr" marL="0" indent="0" lvl="0">
              <a:lnSpc>
                <a:spcPts val="9900"/>
              </a:lnSpc>
            </a:pPr>
            <a:r>
              <a:rPr lang="en-US" b="true" sz="9000" spc="-89">
                <a:solidFill>
                  <a:srgbClr val="121519"/>
                </a:solidFill>
                <a:latin typeface="Telegraf Bold"/>
                <a:ea typeface="Telegraf Bold"/>
                <a:cs typeface="Telegraf Bold"/>
                <a:sym typeface="Telegraf Bold"/>
              </a:rPr>
              <a:t>93</a:t>
            </a:r>
            <a:r>
              <a:rPr lang="en-US" b="true" sz="9000" spc="-89">
                <a:solidFill>
                  <a:srgbClr val="121519"/>
                </a:solidFill>
                <a:latin typeface="Telegraf Bold"/>
                <a:ea typeface="Telegraf Bold"/>
                <a:cs typeface="Telegraf Bold"/>
                <a:sym typeface="Telegraf Bold"/>
              </a:rPr>
              <a:t>%</a:t>
            </a:r>
          </a:p>
        </p:txBody>
      </p:sp>
      <p:sp>
        <p:nvSpPr>
          <p:cNvPr name="TextBox 9" id="9"/>
          <p:cNvSpPr txBox="true"/>
          <p:nvPr/>
        </p:nvSpPr>
        <p:spPr>
          <a:xfrm rot="0">
            <a:off x="17410929"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9</a:t>
            </a:r>
          </a:p>
        </p:txBody>
      </p:sp>
      <p:sp>
        <p:nvSpPr>
          <p:cNvPr name="TextBox 10" id="10"/>
          <p:cNvSpPr txBox="true"/>
          <p:nvPr/>
        </p:nvSpPr>
        <p:spPr>
          <a:xfrm rot="0">
            <a:off x="6725489" y="933450"/>
            <a:ext cx="6544419" cy="887095"/>
          </a:xfrm>
          <a:prstGeom prst="rect">
            <a:avLst/>
          </a:prstGeom>
        </p:spPr>
        <p:txBody>
          <a:bodyPr anchor="t" rtlCol="false" tIns="0" lIns="0" bIns="0" rIns="0">
            <a:spAutoFit/>
          </a:bodyPr>
          <a:lstStyle/>
          <a:p>
            <a:pPr algn="ctr">
              <a:lnSpc>
                <a:spcPts val="7279"/>
              </a:lnSpc>
            </a:pPr>
            <a:r>
              <a:rPr lang="en-US" sz="5199" b="true">
                <a:solidFill>
                  <a:srgbClr val="2A9DF4"/>
                </a:solidFill>
                <a:latin typeface="Canva Sans Bold"/>
                <a:ea typeface="Canva Sans Bold"/>
                <a:cs typeface="Canva Sans Bold"/>
                <a:sym typeface="Canva Sans Bold"/>
              </a:rPr>
              <a:t>Evaluating Accuracy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688092" y="2300609"/>
            <a:ext cx="4314825" cy="431482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9DF4"/>
            </a:solidFill>
          </p:spPr>
        </p:sp>
        <p:sp>
          <p:nvSpPr>
            <p:cNvPr name="TextBox 4" id="4"/>
            <p:cNvSpPr txBox="true"/>
            <p:nvPr/>
          </p:nvSpPr>
          <p:spPr>
            <a:xfrm>
              <a:off x="76200" y="66675"/>
              <a:ext cx="660400" cy="669925"/>
            </a:xfrm>
            <a:prstGeom prst="rect">
              <a:avLst/>
            </a:prstGeom>
          </p:spPr>
          <p:txBody>
            <a:bodyPr anchor="ctr" rtlCol="false" tIns="50800" lIns="50800" bIns="50800" rIns="50800"/>
            <a:lstStyle/>
            <a:p>
              <a:pPr algn="ctr">
                <a:lnSpc>
                  <a:spcPts val="2419"/>
                </a:lnSpc>
              </a:pPr>
            </a:p>
          </p:txBody>
        </p:sp>
      </p:grpSp>
      <p:sp>
        <p:nvSpPr>
          <p:cNvPr name="AutoShape 5" id="5"/>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Freeform 6" id="6"/>
          <p:cNvSpPr/>
          <p:nvPr/>
        </p:nvSpPr>
        <p:spPr>
          <a:xfrm flipH="false" flipV="false" rot="0">
            <a:off x="6467334" y="2586035"/>
            <a:ext cx="7658319" cy="5755204"/>
          </a:xfrm>
          <a:custGeom>
            <a:avLst/>
            <a:gdLst/>
            <a:ahLst/>
            <a:cxnLst/>
            <a:rect r="r" b="b" t="t" l="l"/>
            <a:pathLst>
              <a:path h="5755204" w="7658319">
                <a:moveTo>
                  <a:pt x="0" y="0"/>
                </a:moveTo>
                <a:lnTo>
                  <a:pt x="7658319" y="0"/>
                </a:lnTo>
                <a:lnTo>
                  <a:pt x="7658319" y="5755204"/>
                </a:lnTo>
                <a:lnTo>
                  <a:pt x="0" y="5755204"/>
                </a:lnTo>
                <a:lnTo>
                  <a:pt x="0" y="0"/>
                </a:lnTo>
                <a:close/>
              </a:path>
            </a:pathLst>
          </a:custGeom>
          <a:blipFill>
            <a:blip r:embed="rId2"/>
            <a:stretch>
              <a:fillRect l="0" t="0" r="0" b="0"/>
            </a:stretch>
          </a:blipFill>
        </p:spPr>
      </p:sp>
      <p:sp>
        <p:nvSpPr>
          <p:cNvPr name="TextBox 7" id="7"/>
          <p:cNvSpPr txBox="true"/>
          <p:nvPr/>
        </p:nvSpPr>
        <p:spPr>
          <a:xfrm rot="0">
            <a:off x="-597783" y="7510141"/>
            <a:ext cx="6886575" cy="476250"/>
          </a:xfrm>
          <a:prstGeom prst="rect">
            <a:avLst/>
          </a:prstGeom>
        </p:spPr>
        <p:txBody>
          <a:bodyPr anchor="t" rtlCol="false" tIns="0" lIns="0" bIns="0" rIns="0">
            <a:spAutoFit/>
          </a:bodyPr>
          <a:lstStyle/>
          <a:p>
            <a:pPr algn="ctr" marL="0" indent="0" lvl="0">
              <a:lnSpc>
                <a:spcPts val="3300"/>
              </a:lnSpc>
            </a:pPr>
            <a:r>
              <a:rPr lang="en-US" b="true" sz="3000" spc="-30">
                <a:solidFill>
                  <a:srgbClr val="2A9DF4"/>
                </a:solidFill>
                <a:latin typeface="Telegraf Bold"/>
                <a:ea typeface="Telegraf Bold"/>
                <a:cs typeface="Telegraf Bold"/>
                <a:sym typeface="Telegraf Bold"/>
              </a:rPr>
              <a:t>Random Forest</a:t>
            </a:r>
          </a:p>
        </p:txBody>
      </p:sp>
      <p:sp>
        <p:nvSpPr>
          <p:cNvPr name="TextBox 8" id="8"/>
          <p:cNvSpPr txBox="true"/>
          <p:nvPr/>
        </p:nvSpPr>
        <p:spPr>
          <a:xfrm rot="0">
            <a:off x="1256274" y="3753171"/>
            <a:ext cx="3178462" cy="1390650"/>
          </a:xfrm>
          <a:prstGeom prst="rect">
            <a:avLst/>
          </a:prstGeom>
        </p:spPr>
        <p:txBody>
          <a:bodyPr anchor="t" rtlCol="false" tIns="0" lIns="0" bIns="0" rIns="0">
            <a:spAutoFit/>
          </a:bodyPr>
          <a:lstStyle/>
          <a:p>
            <a:pPr algn="ctr" marL="0" indent="0" lvl="0">
              <a:lnSpc>
                <a:spcPts val="9900"/>
              </a:lnSpc>
            </a:pPr>
            <a:r>
              <a:rPr lang="en-US" b="true" sz="9000" spc="-89">
                <a:solidFill>
                  <a:srgbClr val="121519"/>
                </a:solidFill>
                <a:latin typeface="Telegraf Bold"/>
                <a:ea typeface="Telegraf Bold"/>
                <a:cs typeface="Telegraf Bold"/>
                <a:sym typeface="Telegraf Bold"/>
              </a:rPr>
              <a:t>94</a:t>
            </a:r>
            <a:r>
              <a:rPr lang="en-US" b="true" sz="9000" spc="-89">
                <a:solidFill>
                  <a:srgbClr val="121519"/>
                </a:solidFill>
                <a:latin typeface="Telegraf Bold"/>
                <a:ea typeface="Telegraf Bold"/>
                <a:cs typeface="Telegraf Bold"/>
                <a:sym typeface="Telegraf Bold"/>
              </a:rPr>
              <a:t>%</a:t>
            </a:r>
          </a:p>
        </p:txBody>
      </p:sp>
      <p:sp>
        <p:nvSpPr>
          <p:cNvPr name="TextBox 9" id="9"/>
          <p:cNvSpPr txBox="true"/>
          <p:nvPr/>
        </p:nvSpPr>
        <p:spPr>
          <a:xfrm rot="0">
            <a:off x="17410929"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10</a:t>
            </a:r>
          </a:p>
        </p:txBody>
      </p:sp>
      <p:sp>
        <p:nvSpPr>
          <p:cNvPr name="TextBox 10" id="10"/>
          <p:cNvSpPr txBox="true"/>
          <p:nvPr/>
        </p:nvSpPr>
        <p:spPr>
          <a:xfrm rot="0">
            <a:off x="6725489" y="933450"/>
            <a:ext cx="6544419" cy="887095"/>
          </a:xfrm>
          <a:prstGeom prst="rect">
            <a:avLst/>
          </a:prstGeom>
        </p:spPr>
        <p:txBody>
          <a:bodyPr anchor="t" rtlCol="false" tIns="0" lIns="0" bIns="0" rIns="0">
            <a:spAutoFit/>
          </a:bodyPr>
          <a:lstStyle/>
          <a:p>
            <a:pPr algn="ctr">
              <a:lnSpc>
                <a:spcPts val="7279"/>
              </a:lnSpc>
            </a:pPr>
            <a:r>
              <a:rPr lang="en-US" sz="5199" b="true">
                <a:solidFill>
                  <a:srgbClr val="2A9DF4"/>
                </a:solidFill>
                <a:latin typeface="Canva Sans Bold"/>
                <a:ea typeface="Canva Sans Bold"/>
                <a:cs typeface="Canva Sans Bold"/>
                <a:sym typeface="Canva Sans Bold"/>
              </a:rPr>
              <a:t>Evaluating Accuracy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666750" y="2284400"/>
            <a:ext cx="4314825" cy="431482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9DF4"/>
            </a:solidFill>
          </p:spPr>
        </p:sp>
        <p:sp>
          <p:nvSpPr>
            <p:cNvPr name="TextBox 4" id="4"/>
            <p:cNvSpPr txBox="true"/>
            <p:nvPr/>
          </p:nvSpPr>
          <p:spPr>
            <a:xfrm>
              <a:off x="76200" y="66675"/>
              <a:ext cx="660400" cy="669925"/>
            </a:xfrm>
            <a:prstGeom prst="rect">
              <a:avLst/>
            </a:prstGeom>
          </p:spPr>
          <p:txBody>
            <a:bodyPr anchor="ctr" rtlCol="false" tIns="50800" lIns="50800" bIns="50800" rIns="50800"/>
            <a:lstStyle/>
            <a:p>
              <a:pPr algn="ctr">
                <a:lnSpc>
                  <a:spcPts val="2419"/>
                </a:lnSpc>
              </a:pPr>
            </a:p>
          </p:txBody>
        </p:sp>
      </p:grpSp>
      <p:sp>
        <p:nvSpPr>
          <p:cNvPr name="AutoShape 5" id="5"/>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Freeform 6" id="6"/>
          <p:cNvSpPr/>
          <p:nvPr/>
        </p:nvSpPr>
        <p:spPr>
          <a:xfrm flipH="false" flipV="false" rot="0">
            <a:off x="6267450" y="2284400"/>
            <a:ext cx="8471408" cy="5718200"/>
          </a:xfrm>
          <a:custGeom>
            <a:avLst/>
            <a:gdLst/>
            <a:ahLst/>
            <a:cxnLst/>
            <a:rect r="r" b="b" t="t" l="l"/>
            <a:pathLst>
              <a:path h="5718200" w="8471408">
                <a:moveTo>
                  <a:pt x="0" y="0"/>
                </a:moveTo>
                <a:lnTo>
                  <a:pt x="8471408" y="0"/>
                </a:lnTo>
                <a:lnTo>
                  <a:pt x="8471408" y="5718200"/>
                </a:lnTo>
                <a:lnTo>
                  <a:pt x="0" y="5718200"/>
                </a:lnTo>
                <a:lnTo>
                  <a:pt x="0" y="0"/>
                </a:lnTo>
                <a:close/>
              </a:path>
            </a:pathLst>
          </a:custGeom>
          <a:blipFill>
            <a:blip r:embed="rId2"/>
            <a:stretch>
              <a:fillRect l="0" t="0" r="0" b="0"/>
            </a:stretch>
          </a:blipFill>
        </p:spPr>
      </p:sp>
      <p:sp>
        <p:nvSpPr>
          <p:cNvPr name="TextBox 7" id="7"/>
          <p:cNvSpPr txBox="true"/>
          <p:nvPr/>
        </p:nvSpPr>
        <p:spPr>
          <a:xfrm rot="0">
            <a:off x="-619125" y="7493932"/>
            <a:ext cx="6886575" cy="476250"/>
          </a:xfrm>
          <a:prstGeom prst="rect">
            <a:avLst/>
          </a:prstGeom>
        </p:spPr>
        <p:txBody>
          <a:bodyPr anchor="t" rtlCol="false" tIns="0" lIns="0" bIns="0" rIns="0">
            <a:spAutoFit/>
          </a:bodyPr>
          <a:lstStyle/>
          <a:p>
            <a:pPr algn="ctr" marL="0" indent="0" lvl="0">
              <a:lnSpc>
                <a:spcPts val="3300"/>
              </a:lnSpc>
            </a:pPr>
            <a:r>
              <a:rPr lang="en-US" b="true" sz="3000" spc="-30">
                <a:solidFill>
                  <a:srgbClr val="2A9DF4"/>
                </a:solidFill>
                <a:latin typeface="Telegraf Bold"/>
                <a:ea typeface="Telegraf Bold"/>
                <a:cs typeface="Telegraf Bold"/>
                <a:sym typeface="Telegraf Bold"/>
              </a:rPr>
              <a:t>XGboost</a:t>
            </a:r>
          </a:p>
        </p:txBody>
      </p:sp>
      <p:sp>
        <p:nvSpPr>
          <p:cNvPr name="TextBox 8" id="8"/>
          <p:cNvSpPr txBox="true"/>
          <p:nvPr/>
        </p:nvSpPr>
        <p:spPr>
          <a:xfrm rot="0">
            <a:off x="1234932" y="3736962"/>
            <a:ext cx="3178462" cy="1390650"/>
          </a:xfrm>
          <a:prstGeom prst="rect">
            <a:avLst/>
          </a:prstGeom>
        </p:spPr>
        <p:txBody>
          <a:bodyPr anchor="t" rtlCol="false" tIns="0" lIns="0" bIns="0" rIns="0">
            <a:spAutoFit/>
          </a:bodyPr>
          <a:lstStyle/>
          <a:p>
            <a:pPr algn="ctr" marL="0" indent="0" lvl="0">
              <a:lnSpc>
                <a:spcPts val="9900"/>
              </a:lnSpc>
            </a:pPr>
            <a:r>
              <a:rPr lang="en-US" b="true" sz="9000" spc="-89">
                <a:solidFill>
                  <a:srgbClr val="121519"/>
                </a:solidFill>
                <a:latin typeface="Telegraf Bold"/>
                <a:ea typeface="Telegraf Bold"/>
                <a:cs typeface="Telegraf Bold"/>
                <a:sym typeface="Telegraf Bold"/>
              </a:rPr>
              <a:t>96</a:t>
            </a:r>
            <a:r>
              <a:rPr lang="en-US" b="true" sz="9000" spc="-89">
                <a:solidFill>
                  <a:srgbClr val="121519"/>
                </a:solidFill>
                <a:latin typeface="Telegraf Bold"/>
                <a:ea typeface="Telegraf Bold"/>
                <a:cs typeface="Telegraf Bold"/>
                <a:sym typeface="Telegraf Bold"/>
              </a:rPr>
              <a:t>%</a:t>
            </a:r>
          </a:p>
        </p:txBody>
      </p:sp>
      <p:sp>
        <p:nvSpPr>
          <p:cNvPr name="TextBox 9" id="9"/>
          <p:cNvSpPr txBox="true"/>
          <p:nvPr/>
        </p:nvSpPr>
        <p:spPr>
          <a:xfrm rot="0">
            <a:off x="17410929"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11</a:t>
            </a:r>
          </a:p>
        </p:txBody>
      </p:sp>
      <p:sp>
        <p:nvSpPr>
          <p:cNvPr name="TextBox 10" id="10"/>
          <p:cNvSpPr txBox="true"/>
          <p:nvPr/>
        </p:nvSpPr>
        <p:spPr>
          <a:xfrm rot="0">
            <a:off x="6725489" y="933450"/>
            <a:ext cx="6544419" cy="887095"/>
          </a:xfrm>
          <a:prstGeom prst="rect">
            <a:avLst/>
          </a:prstGeom>
        </p:spPr>
        <p:txBody>
          <a:bodyPr anchor="t" rtlCol="false" tIns="0" lIns="0" bIns="0" rIns="0">
            <a:spAutoFit/>
          </a:bodyPr>
          <a:lstStyle/>
          <a:p>
            <a:pPr algn="ctr">
              <a:lnSpc>
                <a:spcPts val="7279"/>
              </a:lnSpc>
            </a:pPr>
            <a:r>
              <a:rPr lang="en-US" sz="5199" b="true">
                <a:solidFill>
                  <a:srgbClr val="2A9DF4"/>
                </a:solidFill>
                <a:latin typeface="Canva Sans Bold"/>
                <a:ea typeface="Canva Sans Bold"/>
                <a:cs typeface="Canva Sans Bold"/>
                <a:sym typeface="Canva Sans Bold"/>
              </a:rPr>
              <a:t>Evaluating Accuracy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457450"/>
            <a:chOff x="0" y="0"/>
            <a:chExt cx="4816593" cy="647230"/>
          </a:xfrm>
        </p:grpSpPr>
        <p:sp>
          <p:nvSpPr>
            <p:cNvPr name="Freeform 3" id="3"/>
            <p:cNvSpPr/>
            <p:nvPr/>
          </p:nvSpPr>
          <p:spPr>
            <a:xfrm flipH="false" flipV="false" rot="0">
              <a:off x="0" y="0"/>
              <a:ext cx="4816592" cy="647230"/>
            </a:xfrm>
            <a:custGeom>
              <a:avLst/>
              <a:gdLst/>
              <a:ahLst/>
              <a:cxnLst/>
              <a:rect r="r" b="b" t="t" l="l"/>
              <a:pathLst>
                <a:path h="647230" w="4816592">
                  <a:moveTo>
                    <a:pt x="0" y="0"/>
                  </a:moveTo>
                  <a:lnTo>
                    <a:pt x="4816592" y="0"/>
                  </a:lnTo>
                  <a:lnTo>
                    <a:pt x="4816592" y="647230"/>
                  </a:lnTo>
                  <a:lnTo>
                    <a:pt x="0" y="647230"/>
                  </a:lnTo>
                  <a:close/>
                </a:path>
              </a:pathLst>
            </a:custGeom>
            <a:solidFill>
              <a:srgbClr val="2A9DF4"/>
            </a:solidFill>
          </p:spPr>
        </p:sp>
        <p:sp>
          <p:nvSpPr>
            <p:cNvPr name="TextBox 4" id="4"/>
            <p:cNvSpPr txBox="true"/>
            <p:nvPr/>
          </p:nvSpPr>
          <p:spPr>
            <a:xfrm>
              <a:off x="0" y="-47625"/>
              <a:ext cx="4816593" cy="694855"/>
            </a:xfrm>
            <a:prstGeom prst="rect">
              <a:avLst/>
            </a:prstGeom>
          </p:spPr>
          <p:txBody>
            <a:bodyPr anchor="ctr" rtlCol="false" tIns="50800" lIns="50800" bIns="50800" rIns="50800"/>
            <a:lstStyle/>
            <a:p>
              <a:pPr algn="ctr">
                <a:lnSpc>
                  <a:spcPts val="2859"/>
                </a:lnSpc>
              </a:pPr>
            </a:p>
          </p:txBody>
        </p:sp>
      </p:grpSp>
      <p:sp>
        <p:nvSpPr>
          <p:cNvPr name="AutoShape 5" id="5"/>
          <p:cNvSpPr/>
          <p:nvPr/>
        </p:nvSpPr>
        <p:spPr>
          <a:xfrm>
            <a:off x="666750" y="9620250"/>
            <a:ext cx="16954500" cy="0"/>
          </a:xfrm>
          <a:prstGeom prst="line">
            <a:avLst/>
          </a:prstGeom>
          <a:ln cap="flat" w="9525">
            <a:solidFill>
              <a:srgbClr val="728CA3"/>
            </a:solidFill>
            <a:prstDash val="solid"/>
            <a:headEnd type="none" len="sm" w="sm"/>
            <a:tailEnd type="none" len="sm" w="sm"/>
          </a:ln>
        </p:spPr>
      </p:sp>
      <p:sp>
        <p:nvSpPr>
          <p:cNvPr name="Freeform 6" id="6"/>
          <p:cNvSpPr/>
          <p:nvPr/>
        </p:nvSpPr>
        <p:spPr>
          <a:xfrm flipH="false" flipV="false" rot="0">
            <a:off x="3534375" y="3634951"/>
            <a:ext cx="11219250" cy="4803035"/>
          </a:xfrm>
          <a:custGeom>
            <a:avLst/>
            <a:gdLst/>
            <a:ahLst/>
            <a:cxnLst/>
            <a:rect r="r" b="b" t="t" l="l"/>
            <a:pathLst>
              <a:path h="4803035" w="11219250">
                <a:moveTo>
                  <a:pt x="0" y="0"/>
                </a:moveTo>
                <a:lnTo>
                  <a:pt x="11219250" y="0"/>
                </a:lnTo>
                <a:lnTo>
                  <a:pt x="11219250" y="4803035"/>
                </a:lnTo>
                <a:lnTo>
                  <a:pt x="0" y="4803035"/>
                </a:lnTo>
                <a:lnTo>
                  <a:pt x="0" y="0"/>
                </a:lnTo>
                <a:close/>
              </a:path>
            </a:pathLst>
          </a:custGeom>
          <a:blipFill>
            <a:blip r:embed="rId2"/>
            <a:stretch>
              <a:fillRect l="0" t="0" r="-730" b="0"/>
            </a:stretch>
          </a:blipFill>
        </p:spPr>
      </p:sp>
      <p:sp>
        <p:nvSpPr>
          <p:cNvPr name="TextBox 7" id="7"/>
          <p:cNvSpPr txBox="true"/>
          <p:nvPr/>
        </p:nvSpPr>
        <p:spPr>
          <a:xfrm rot="0">
            <a:off x="2824162" y="688975"/>
            <a:ext cx="12639675" cy="1069975"/>
          </a:xfrm>
          <a:prstGeom prst="rect">
            <a:avLst/>
          </a:prstGeom>
        </p:spPr>
        <p:txBody>
          <a:bodyPr anchor="t" rtlCol="false" tIns="0" lIns="0" bIns="0" rIns="0">
            <a:spAutoFit/>
          </a:bodyPr>
          <a:lstStyle/>
          <a:p>
            <a:pPr algn="ctr" marL="0" indent="0" lvl="0">
              <a:lnSpc>
                <a:spcPts val="7699"/>
              </a:lnSpc>
            </a:pPr>
            <a:r>
              <a:rPr lang="en-US" b="true" sz="6999" spc="-69">
                <a:solidFill>
                  <a:srgbClr val="121519"/>
                </a:solidFill>
                <a:latin typeface="Telegraf Bold"/>
                <a:ea typeface="Telegraf Bold"/>
                <a:cs typeface="Telegraf Bold"/>
                <a:sym typeface="Telegraf Bold"/>
              </a:rPr>
              <a:t>F1 Score</a:t>
            </a:r>
          </a:p>
        </p:txBody>
      </p:sp>
      <p:sp>
        <p:nvSpPr>
          <p:cNvPr name="TextBox 8" id="8"/>
          <p:cNvSpPr txBox="true"/>
          <p:nvPr/>
        </p:nvSpPr>
        <p:spPr>
          <a:xfrm rot="0">
            <a:off x="17462748"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457450"/>
            <a:chOff x="0" y="0"/>
            <a:chExt cx="4816593" cy="647230"/>
          </a:xfrm>
        </p:grpSpPr>
        <p:sp>
          <p:nvSpPr>
            <p:cNvPr name="Freeform 3" id="3"/>
            <p:cNvSpPr/>
            <p:nvPr/>
          </p:nvSpPr>
          <p:spPr>
            <a:xfrm flipH="false" flipV="false" rot="0">
              <a:off x="0" y="0"/>
              <a:ext cx="4816592" cy="647230"/>
            </a:xfrm>
            <a:custGeom>
              <a:avLst/>
              <a:gdLst/>
              <a:ahLst/>
              <a:cxnLst/>
              <a:rect r="r" b="b" t="t" l="l"/>
              <a:pathLst>
                <a:path h="647230" w="4816592">
                  <a:moveTo>
                    <a:pt x="0" y="0"/>
                  </a:moveTo>
                  <a:lnTo>
                    <a:pt x="4816592" y="0"/>
                  </a:lnTo>
                  <a:lnTo>
                    <a:pt x="4816592" y="647230"/>
                  </a:lnTo>
                  <a:lnTo>
                    <a:pt x="0" y="647230"/>
                  </a:lnTo>
                  <a:close/>
                </a:path>
              </a:pathLst>
            </a:custGeom>
            <a:solidFill>
              <a:srgbClr val="2A9DF4"/>
            </a:solidFill>
          </p:spPr>
        </p:sp>
        <p:sp>
          <p:nvSpPr>
            <p:cNvPr name="TextBox 4" id="4"/>
            <p:cNvSpPr txBox="true"/>
            <p:nvPr/>
          </p:nvSpPr>
          <p:spPr>
            <a:xfrm>
              <a:off x="0" y="-47625"/>
              <a:ext cx="4816593" cy="694855"/>
            </a:xfrm>
            <a:prstGeom prst="rect">
              <a:avLst/>
            </a:prstGeom>
          </p:spPr>
          <p:txBody>
            <a:bodyPr anchor="ctr" rtlCol="false" tIns="50800" lIns="50800" bIns="50800" rIns="50800"/>
            <a:lstStyle/>
            <a:p>
              <a:pPr algn="ctr">
                <a:lnSpc>
                  <a:spcPts val="2859"/>
                </a:lnSpc>
              </a:pPr>
            </a:p>
          </p:txBody>
        </p:sp>
      </p:grpSp>
      <p:sp>
        <p:nvSpPr>
          <p:cNvPr name="AutoShape 5" id="5"/>
          <p:cNvSpPr/>
          <p:nvPr/>
        </p:nvSpPr>
        <p:spPr>
          <a:xfrm>
            <a:off x="666750" y="9620250"/>
            <a:ext cx="16954500" cy="0"/>
          </a:xfrm>
          <a:prstGeom prst="line">
            <a:avLst/>
          </a:prstGeom>
          <a:ln cap="flat" w="9525">
            <a:solidFill>
              <a:srgbClr val="728CA3"/>
            </a:solidFill>
            <a:prstDash val="solid"/>
            <a:headEnd type="none" len="sm" w="sm"/>
            <a:tailEnd type="none" len="sm" w="sm"/>
          </a:ln>
        </p:spPr>
      </p:sp>
      <p:sp>
        <p:nvSpPr>
          <p:cNvPr name="Freeform 6" id="6"/>
          <p:cNvSpPr/>
          <p:nvPr/>
        </p:nvSpPr>
        <p:spPr>
          <a:xfrm flipH="false" flipV="false" rot="0">
            <a:off x="544270" y="3531798"/>
            <a:ext cx="17199459" cy="5009342"/>
          </a:xfrm>
          <a:custGeom>
            <a:avLst/>
            <a:gdLst/>
            <a:ahLst/>
            <a:cxnLst/>
            <a:rect r="r" b="b" t="t" l="l"/>
            <a:pathLst>
              <a:path h="5009342" w="17199459">
                <a:moveTo>
                  <a:pt x="0" y="0"/>
                </a:moveTo>
                <a:lnTo>
                  <a:pt x="17199460" y="0"/>
                </a:lnTo>
                <a:lnTo>
                  <a:pt x="17199460" y="5009342"/>
                </a:lnTo>
                <a:lnTo>
                  <a:pt x="0" y="5009342"/>
                </a:lnTo>
                <a:lnTo>
                  <a:pt x="0" y="0"/>
                </a:lnTo>
                <a:close/>
              </a:path>
            </a:pathLst>
          </a:custGeom>
          <a:blipFill>
            <a:blip r:embed="rId2"/>
            <a:stretch>
              <a:fillRect l="0" t="0" r="0" b="0"/>
            </a:stretch>
          </a:blipFill>
        </p:spPr>
      </p:sp>
      <p:sp>
        <p:nvSpPr>
          <p:cNvPr name="TextBox 7" id="7"/>
          <p:cNvSpPr txBox="true"/>
          <p:nvPr/>
        </p:nvSpPr>
        <p:spPr>
          <a:xfrm rot="0">
            <a:off x="2824162" y="688975"/>
            <a:ext cx="12639675" cy="1069975"/>
          </a:xfrm>
          <a:prstGeom prst="rect">
            <a:avLst/>
          </a:prstGeom>
        </p:spPr>
        <p:txBody>
          <a:bodyPr anchor="t" rtlCol="false" tIns="0" lIns="0" bIns="0" rIns="0">
            <a:spAutoFit/>
          </a:bodyPr>
          <a:lstStyle/>
          <a:p>
            <a:pPr algn="ctr" marL="0" indent="0" lvl="0">
              <a:lnSpc>
                <a:spcPts val="7699"/>
              </a:lnSpc>
            </a:pPr>
            <a:r>
              <a:rPr lang="en-US" b="true" sz="6999" spc="-69">
                <a:solidFill>
                  <a:srgbClr val="121519"/>
                </a:solidFill>
                <a:latin typeface="Telegraf Bold"/>
                <a:ea typeface="Telegraf Bold"/>
                <a:cs typeface="Telegraf Bold"/>
                <a:sym typeface="Telegraf Bold"/>
              </a:rPr>
              <a:t>Heatmap</a:t>
            </a:r>
          </a:p>
        </p:txBody>
      </p:sp>
      <p:sp>
        <p:nvSpPr>
          <p:cNvPr name="TextBox 8" id="8"/>
          <p:cNvSpPr txBox="true"/>
          <p:nvPr/>
        </p:nvSpPr>
        <p:spPr>
          <a:xfrm rot="0">
            <a:off x="17462748"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666750" y="6934213"/>
            <a:ext cx="11201400" cy="1644650"/>
            <a:chOff x="0" y="0"/>
            <a:chExt cx="14935200" cy="2192867"/>
          </a:xfrm>
        </p:grpSpPr>
        <p:sp>
          <p:nvSpPr>
            <p:cNvPr name="TextBox 3" id="3"/>
            <p:cNvSpPr txBox="true"/>
            <p:nvPr/>
          </p:nvSpPr>
          <p:spPr>
            <a:xfrm rot="0">
              <a:off x="0" y="1771650"/>
              <a:ext cx="14935200" cy="421217"/>
            </a:xfrm>
            <a:prstGeom prst="rect">
              <a:avLst/>
            </a:prstGeom>
          </p:spPr>
          <p:txBody>
            <a:bodyPr anchor="t" rtlCol="false" tIns="0" lIns="0" bIns="0" rIns="0">
              <a:spAutoFit/>
            </a:bodyPr>
            <a:lstStyle/>
            <a:p>
              <a:pPr algn="l" marL="0" indent="0" lvl="0">
                <a:lnSpc>
                  <a:spcPts val="2200"/>
                </a:lnSpc>
              </a:pPr>
              <a:r>
                <a:rPr lang="en-US" sz="2000" spc="-20" strike="noStrike" u="none">
                  <a:solidFill>
                    <a:srgbClr val="728CA3"/>
                  </a:solidFill>
                  <a:latin typeface="Telegraf"/>
                  <a:ea typeface="Telegraf"/>
                  <a:cs typeface="Telegraf"/>
                  <a:sym typeface="Telegraf"/>
                </a:rPr>
                <a:t>Exploring behavioral patterns in smartphone usage</a:t>
              </a:r>
            </a:p>
          </p:txBody>
        </p:sp>
        <p:sp>
          <p:nvSpPr>
            <p:cNvPr name="TextBox 4" id="4"/>
            <p:cNvSpPr txBox="true"/>
            <p:nvPr/>
          </p:nvSpPr>
          <p:spPr>
            <a:xfrm rot="0">
              <a:off x="0" y="-9525"/>
              <a:ext cx="14935200" cy="1423458"/>
            </a:xfrm>
            <a:prstGeom prst="rect">
              <a:avLst/>
            </a:prstGeom>
          </p:spPr>
          <p:txBody>
            <a:bodyPr anchor="t" rtlCol="false" tIns="0" lIns="0" bIns="0" rIns="0">
              <a:spAutoFit/>
            </a:bodyPr>
            <a:lstStyle/>
            <a:p>
              <a:pPr algn="l" marL="0" indent="0" lvl="0">
                <a:lnSpc>
                  <a:spcPts val="7699"/>
                </a:lnSpc>
              </a:pPr>
              <a:r>
                <a:rPr lang="en-US" b="true" sz="6999" spc="-69">
                  <a:solidFill>
                    <a:srgbClr val="2A9DF4"/>
                  </a:solidFill>
                  <a:latin typeface="Telegraf Bold"/>
                  <a:ea typeface="Telegraf Bold"/>
                  <a:cs typeface="Telegraf Bold"/>
                  <a:sym typeface="Telegraf Bold"/>
                </a:rPr>
                <a:t>Theoretical Framework</a:t>
              </a:r>
            </a:p>
          </p:txBody>
        </p:sp>
      </p:grpSp>
      <p:grpSp>
        <p:nvGrpSpPr>
          <p:cNvPr name="Group 5" id="5"/>
          <p:cNvGrpSpPr/>
          <p:nvPr/>
        </p:nvGrpSpPr>
        <p:grpSpPr>
          <a:xfrm rot="0">
            <a:off x="0" y="0"/>
            <a:ext cx="18288000" cy="6038850"/>
            <a:chOff x="0" y="0"/>
            <a:chExt cx="2161206" cy="713648"/>
          </a:xfrm>
        </p:grpSpPr>
        <p:sp>
          <p:nvSpPr>
            <p:cNvPr name="Freeform 6" id="6"/>
            <p:cNvSpPr/>
            <p:nvPr/>
          </p:nvSpPr>
          <p:spPr>
            <a:xfrm flipH="false" flipV="false" rot="0">
              <a:off x="0" y="0"/>
              <a:ext cx="2161206" cy="713648"/>
            </a:xfrm>
            <a:custGeom>
              <a:avLst/>
              <a:gdLst/>
              <a:ahLst/>
              <a:cxnLst/>
              <a:rect r="r" b="b" t="t" l="l"/>
              <a:pathLst>
                <a:path h="713648" w="2161206">
                  <a:moveTo>
                    <a:pt x="0" y="0"/>
                  </a:moveTo>
                  <a:lnTo>
                    <a:pt x="2161206" y="0"/>
                  </a:lnTo>
                  <a:lnTo>
                    <a:pt x="2161206" y="713648"/>
                  </a:lnTo>
                  <a:lnTo>
                    <a:pt x="0" y="713648"/>
                  </a:lnTo>
                  <a:close/>
                </a:path>
              </a:pathLst>
            </a:custGeom>
            <a:blipFill>
              <a:blip r:embed="rId2"/>
              <a:stretch>
                <a:fillRect l="0" t="-5268" r="0" b="-5268"/>
              </a:stretch>
            </a:blipFill>
          </p:spPr>
        </p:sp>
      </p:grpSp>
      <p:sp>
        <p:nvSpPr>
          <p:cNvPr name="AutoShape 7" id="7"/>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TextBox 8" id="8"/>
          <p:cNvSpPr txBox="true"/>
          <p:nvPr/>
        </p:nvSpPr>
        <p:spPr>
          <a:xfrm rot="0">
            <a:off x="17526744"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14</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1504950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597389"/>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a:lnSpc>
                  <a:spcPts val="2800"/>
                </a:lnSpc>
              </a:pPr>
            </a:p>
          </p:txBody>
        </p:sp>
      </p:grpSp>
      <p:sp>
        <p:nvSpPr>
          <p:cNvPr name="AutoShape 5" id="5"/>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TextBox 6" id="6"/>
          <p:cNvSpPr txBox="true"/>
          <p:nvPr/>
        </p:nvSpPr>
        <p:spPr>
          <a:xfrm rot="0">
            <a:off x="17441506"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2A9DF4"/>
                </a:solidFill>
                <a:latin typeface="Telegraf Bold"/>
                <a:ea typeface="Telegraf Bold"/>
                <a:cs typeface="Telegraf Bold"/>
                <a:sym typeface="Telegraf Bold"/>
              </a:rPr>
              <a:t>15</a:t>
            </a:r>
          </a:p>
        </p:txBody>
      </p:sp>
      <p:grpSp>
        <p:nvGrpSpPr>
          <p:cNvPr name="Group 7" id="7"/>
          <p:cNvGrpSpPr/>
          <p:nvPr/>
        </p:nvGrpSpPr>
        <p:grpSpPr>
          <a:xfrm rot="0">
            <a:off x="666750" y="666750"/>
            <a:ext cx="12639675" cy="1784350"/>
            <a:chOff x="0" y="0"/>
            <a:chExt cx="16852900" cy="2379134"/>
          </a:xfrm>
        </p:grpSpPr>
        <p:sp>
          <p:nvSpPr>
            <p:cNvPr name="TextBox 8" id="8"/>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A9DF4"/>
                  </a:solidFill>
                  <a:latin typeface="Telegraf Bold"/>
                  <a:ea typeface="Telegraf Bold"/>
                  <a:cs typeface="Telegraf Bold"/>
                  <a:sym typeface="Telegraf Bold"/>
                </a:rPr>
                <a:t>Age Moderation</a:t>
              </a:r>
            </a:p>
          </p:txBody>
        </p:sp>
        <p:sp>
          <p:nvSpPr>
            <p:cNvPr name="TextBox 9" id="9"/>
            <p:cNvSpPr txBox="true"/>
            <p:nvPr/>
          </p:nvSpPr>
          <p:spPr>
            <a:xfrm rot="0">
              <a:off x="0" y="1750484"/>
              <a:ext cx="16852900" cy="628650"/>
            </a:xfrm>
            <a:prstGeom prst="rect">
              <a:avLst/>
            </a:prstGeom>
          </p:spPr>
          <p:txBody>
            <a:bodyPr anchor="t" rtlCol="false" tIns="0" lIns="0" bIns="0" rIns="0">
              <a:spAutoFit/>
            </a:bodyPr>
            <a:lstStyle/>
            <a:p>
              <a:pPr algn="l" marL="0" indent="0" lvl="0">
                <a:lnSpc>
                  <a:spcPts val="3300"/>
                </a:lnSpc>
              </a:pPr>
              <a:r>
                <a:rPr lang="en-US" b="true" sz="3000" spc="-30">
                  <a:solidFill>
                    <a:srgbClr val="728CA3"/>
                  </a:solidFill>
                  <a:latin typeface="Telegraf Bold"/>
                  <a:ea typeface="Telegraf Bold"/>
                  <a:cs typeface="Telegraf Bold"/>
                  <a:sym typeface="Telegraf Bold"/>
                </a:rPr>
                <a:t>Understanding the Relationship Dynamics</a:t>
              </a:r>
            </a:p>
          </p:txBody>
        </p:sp>
      </p:grpSp>
      <p:grpSp>
        <p:nvGrpSpPr>
          <p:cNvPr name="Group 10" id="10"/>
          <p:cNvGrpSpPr/>
          <p:nvPr/>
        </p:nvGrpSpPr>
        <p:grpSpPr>
          <a:xfrm rot="0">
            <a:off x="666750" y="3352800"/>
            <a:ext cx="8324850" cy="2254250"/>
            <a:chOff x="0" y="0"/>
            <a:chExt cx="11099800" cy="3005667"/>
          </a:xfrm>
        </p:grpSpPr>
        <p:sp>
          <p:nvSpPr>
            <p:cNvPr name="TextBox 11" id="11"/>
            <p:cNvSpPr txBox="true"/>
            <p:nvPr/>
          </p:nvSpPr>
          <p:spPr>
            <a:xfrm rot="0">
              <a:off x="0" y="-19050"/>
              <a:ext cx="11099800" cy="628650"/>
            </a:xfrm>
            <a:prstGeom prst="rect">
              <a:avLst/>
            </a:prstGeom>
          </p:spPr>
          <p:txBody>
            <a:bodyPr anchor="t" rtlCol="false" tIns="0" lIns="0" bIns="0" rIns="0">
              <a:spAutoFit/>
            </a:bodyPr>
            <a:lstStyle/>
            <a:p>
              <a:pPr algn="l" marL="0" indent="0" lvl="0">
                <a:lnSpc>
                  <a:spcPts val="3300"/>
                </a:lnSpc>
              </a:pPr>
              <a:r>
                <a:rPr lang="en-US" b="true" sz="3000" spc="-30" strike="noStrike" u="none">
                  <a:solidFill>
                    <a:srgbClr val="728CA3"/>
                  </a:solidFill>
                  <a:latin typeface="Telegraf Bold"/>
                  <a:ea typeface="Telegraf Bold"/>
                  <a:cs typeface="Telegraf Bold"/>
                  <a:sym typeface="Telegraf Bold"/>
                </a:rPr>
                <a:t>Age Moderates Usage</a:t>
              </a:r>
            </a:p>
          </p:txBody>
        </p:sp>
        <p:sp>
          <p:nvSpPr>
            <p:cNvPr name="TextBox 12" id="12"/>
            <p:cNvSpPr txBox="true"/>
            <p:nvPr/>
          </p:nvSpPr>
          <p:spPr>
            <a:xfrm rot="0">
              <a:off x="0" y="1117600"/>
              <a:ext cx="11099800" cy="1888067"/>
            </a:xfrm>
            <a:prstGeom prst="rect">
              <a:avLst/>
            </a:prstGeom>
          </p:spPr>
          <p:txBody>
            <a:bodyPr anchor="t" rtlCol="false" tIns="0" lIns="0" bIns="0" rIns="0">
              <a:spAutoFit/>
            </a:bodyPr>
            <a:lstStyle/>
            <a:p>
              <a:pPr algn="l" marL="0" indent="0" lvl="0">
                <a:lnSpc>
                  <a:spcPts val="2800"/>
                </a:lnSpc>
              </a:pPr>
              <a:r>
                <a:rPr lang="en-US" sz="2000" spc="-20" strike="noStrike" u="none">
                  <a:solidFill>
                    <a:srgbClr val="2A9DF4"/>
                  </a:solidFill>
                  <a:latin typeface="Telegraf"/>
                  <a:ea typeface="Telegraf"/>
                  <a:cs typeface="Telegraf"/>
                  <a:sym typeface="Telegraf"/>
                </a:rPr>
                <a:t>The hypothesis suggests that </a:t>
              </a:r>
              <a:r>
                <a:rPr lang="en-US" b="true" sz="2000" spc="-20" strike="noStrike" u="none">
                  <a:solidFill>
                    <a:srgbClr val="2A9DF4"/>
                  </a:solidFill>
                  <a:latin typeface="Telegraf Bold"/>
                  <a:ea typeface="Telegraf Bold"/>
                  <a:cs typeface="Telegraf Bold"/>
                  <a:sym typeface="Telegraf Bold"/>
                </a:rPr>
                <a:t>younger users exhibit a stronger relationship</a:t>
              </a:r>
              <a:r>
                <a:rPr lang="en-US" sz="2000" spc="-20" strike="noStrike" u="none">
                  <a:solidFill>
                    <a:srgbClr val="2A9DF4"/>
                  </a:solidFill>
                  <a:latin typeface="Telegraf"/>
                  <a:ea typeface="Telegraf"/>
                  <a:cs typeface="Telegraf"/>
                  <a:sym typeface="Telegraf"/>
                </a:rPr>
                <a:t> between daily smartphone usage and addiction levels, while older users show a comparatively weaker association, highlighting age's moderating effect.</a:t>
              </a:r>
            </a:p>
          </p:txBody>
        </p:sp>
      </p:grpSp>
    </p:spTree>
  </p:cSld>
  <p:clrMapOvr>
    <a:masterClrMapping/>
  </p:clrMapOvr>
</p:sld>
</file>

<file path=ppt/slides/slide16.xml><?xml version="1.0" encoding="utf-8"?>
<p:sld xmlns:p="http://schemas.openxmlformats.org/presentationml/2006/main" xmlns:a="http://schemas.openxmlformats.org/drawingml/2006/main">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3750738" y="4292454"/>
            <a:ext cx="10786524" cy="3488029"/>
            <a:chOff x="0" y="0"/>
            <a:chExt cx="14382032" cy="4650705"/>
          </a:xfrm>
        </p:grpSpPr>
        <p:sp>
          <p:nvSpPr>
            <p:cNvPr name="TextBox 3" id="3"/>
            <p:cNvSpPr txBox="true"/>
            <p:nvPr/>
          </p:nvSpPr>
          <p:spPr>
            <a:xfrm rot="0">
              <a:off x="0" y="-9525"/>
              <a:ext cx="14382032" cy="1839604"/>
            </a:xfrm>
            <a:prstGeom prst="rect">
              <a:avLst/>
            </a:prstGeom>
          </p:spPr>
          <p:txBody>
            <a:bodyPr anchor="t" rtlCol="false" tIns="0" lIns="0" bIns="0" rIns="0">
              <a:spAutoFit/>
            </a:bodyPr>
            <a:lstStyle/>
            <a:p>
              <a:pPr algn="l" marL="0" indent="0" lvl="0">
                <a:lnSpc>
                  <a:spcPts val="5168"/>
                </a:lnSpc>
              </a:pPr>
              <a:r>
                <a:rPr lang="en-US" b="true" sz="4698" spc="-46">
                  <a:solidFill>
                    <a:srgbClr val="728CA3"/>
                  </a:solidFill>
                  <a:latin typeface="Telegraf Bold"/>
                  <a:ea typeface="Telegraf Bold"/>
                  <a:cs typeface="Telegraf Bold"/>
                  <a:sym typeface="Telegraf Bold"/>
                </a:rPr>
                <a:t>Understanding how age influences smartphone addiction risk dynamics</a:t>
              </a:r>
            </a:p>
          </p:txBody>
        </p:sp>
        <p:sp>
          <p:nvSpPr>
            <p:cNvPr name="TextBox 4" id="4"/>
            <p:cNvSpPr txBox="true"/>
            <p:nvPr/>
          </p:nvSpPr>
          <p:spPr>
            <a:xfrm rot="0">
              <a:off x="0" y="2453517"/>
              <a:ext cx="14382032" cy="2197188"/>
            </a:xfrm>
            <a:prstGeom prst="rect">
              <a:avLst/>
            </a:prstGeom>
          </p:spPr>
          <p:txBody>
            <a:bodyPr anchor="t" rtlCol="false" tIns="0" lIns="0" bIns="0" rIns="0">
              <a:spAutoFit/>
            </a:bodyPr>
            <a:lstStyle/>
            <a:p>
              <a:pPr algn="l" marL="0" indent="0" lvl="0">
                <a:lnSpc>
                  <a:spcPts val="4385"/>
                </a:lnSpc>
              </a:pPr>
              <a:r>
                <a:rPr lang="en-US" sz="3132" spc="-31">
                  <a:solidFill>
                    <a:srgbClr val="728CA3"/>
                  </a:solidFill>
                  <a:latin typeface="Telegraf"/>
                  <a:ea typeface="Telegraf"/>
                  <a:cs typeface="Telegraf"/>
                  <a:sym typeface="Telegraf"/>
                </a:rPr>
                <a:t>This visualization illustrates the relationship between daily usage and addiction level, highlighting age as a critical moderating factor in the analysis.</a:t>
              </a:r>
            </a:p>
          </p:txBody>
        </p:sp>
      </p:grpSp>
      <p:grpSp>
        <p:nvGrpSpPr>
          <p:cNvPr name="Group 5" id="5"/>
          <p:cNvGrpSpPr/>
          <p:nvPr/>
        </p:nvGrpSpPr>
        <p:grpSpPr>
          <a:xfrm rot="0">
            <a:off x="0" y="0"/>
            <a:ext cx="18288000" cy="2457450"/>
            <a:chOff x="0" y="0"/>
            <a:chExt cx="4816593" cy="647230"/>
          </a:xfrm>
        </p:grpSpPr>
        <p:sp>
          <p:nvSpPr>
            <p:cNvPr name="Freeform 6" id="6"/>
            <p:cNvSpPr/>
            <p:nvPr/>
          </p:nvSpPr>
          <p:spPr>
            <a:xfrm flipH="false" flipV="false" rot="0">
              <a:off x="0" y="0"/>
              <a:ext cx="4816592" cy="647230"/>
            </a:xfrm>
            <a:custGeom>
              <a:avLst/>
              <a:gdLst/>
              <a:ahLst/>
              <a:cxnLst/>
              <a:rect r="r" b="b" t="t" l="l"/>
              <a:pathLst>
                <a:path h="647230" w="4816592">
                  <a:moveTo>
                    <a:pt x="0" y="0"/>
                  </a:moveTo>
                  <a:lnTo>
                    <a:pt x="4816592" y="0"/>
                  </a:lnTo>
                  <a:lnTo>
                    <a:pt x="4816592" y="647230"/>
                  </a:lnTo>
                  <a:lnTo>
                    <a:pt x="0" y="647230"/>
                  </a:lnTo>
                  <a:close/>
                </a:path>
              </a:pathLst>
            </a:custGeom>
            <a:solidFill>
              <a:srgbClr val="2A9DF4"/>
            </a:solidFill>
          </p:spPr>
        </p:sp>
        <p:sp>
          <p:nvSpPr>
            <p:cNvPr name="TextBox 7" id="7"/>
            <p:cNvSpPr txBox="true"/>
            <p:nvPr/>
          </p:nvSpPr>
          <p:spPr>
            <a:xfrm>
              <a:off x="0" y="-47625"/>
              <a:ext cx="4816593" cy="694855"/>
            </a:xfrm>
            <a:prstGeom prst="rect">
              <a:avLst/>
            </a:prstGeom>
          </p:spPr>
          <p:txBody>
            <a:bodyPr anchor="ctr" rtlCol="false" tIns="50800" lIns="50800" bIns="50800" rIns="50800"/>
            <a:lstStyle/>
            <a:p>
              <a:pPr algn="ctr">
                <a:lnSpc>
                  <a:spcPts val="2859"/>
                </a:lnSpc>
              </a:pPr>
            </a:p>
          </p:txBody>
        </p:sp>
      </p:grpSp>
      <p:sp>
        <p:nvSpPr>
          <p:cNvPr name="TextBox 8" id="8"/>
          <p:cNvSpPr txBox="true"/>
          <p:nvPr/>
        </p:nvSpPr>
        <p:spPr>
          <a:xfrm rot="0">
            <a:off x="666750" y="657225"/>
            <a:ext cx="12639675" cy="1069975"/>
          </a:xfrm>
          <a:prstGeom prst="rect">
            <a:avLst/>
          </a:prstGeom>
        </p:spPr>
        <p:txBody>
          <a:bodyPr anchor="t" rtlCol="false" tIns="0" lIns="0" bIns="0" rIns="0">
            <a:spAutoFit/>
          </a:bodyPr>
          <a:lstStyle/>
          <a:p>
            <a:pPr algn="l" marL="0" indent="0" lvl="0">
              <a:lnSpc>
                <a:spcPts val="7699"/>
              </a:lnSpc>
            </a:pPr>
            <a:r>
              <a:rPr lang="en-US" b="true" sz="6999" spc="-69">
                <a:solidFill>
                  <a:srgbClr val="121519"/>
                </a:solidFill>
                <a:latin typeface="Telegraf Bold"/>
                <a:ea typeface="Telegraf Bold"/>
                <a:cs typeface="Telegraf Bold"/>
                <a:sym typeface="Telegraf Bold"/>
              </a:rPr>
              <a:t>Age Moderation Effects</a:t>
            </a:r>
          </a:p>
        </p:txBody>
      </p:sp>
      <p:sp>
        <p:nvSpPr>
          <p:cNvPr name="AutoShape 9" id="9"/>
          <p:cNvSpPr/>
          <p:nvPr/>
        </p:nvSpPr>
        <p:spPr>
          <a:xfrm>
            <a:off x="666750" y="9620250"/>
            <a:ext cx="16954500" cy="0"/>
          </a:xfrm>
          <a:prstGeom prst="line">
            <a:avLst/>
          </a:prstGeom>
          <a:ln cap="flat" w="9525">
            <a:solidFill>
              <a:srgbClr val="728CA3"/>
            </a:solidFill>
            <a:prstDash val="solid"/>
            <a:headEnd type="none" len="sm" w="sm"/>
            <a:tailEnd type="none" len="sm" w="sm"/>
          </a:ln>
        </p:spPr>
      </p:sp>
      <p:sp>
        <p:nvSpPr>
          <p:cNvPr name="TextBox 10" id="10"/>
          <p:cNvSpPr txBox="true"/>
          <p:nvPr/>
        </p:nvSpPr>
        <p:spPr>
          <a:xfrm rot="0">
            <a:off x="17462748"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16</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12151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6886575" cy="2304692"/>
            <a:chOff x="0" y="0"/>
            <a:chExt cx="9182100" cy="3072923"/>
          </a:xfrm>
        </p:grpSpPr>
        <p:sp>
          <p:nvSpPr>
            <p:cNvPr name="TextBox 3" id="3"/>
            <p:cNvSpPr txBox="true"/>
            <p:nvPr/>
          </p:nvSpPr>
          <p:spPr>
            <a:xfrm rot="0">
              <a:off x="0" y="-9525"/>
              <a:ext cx="9182100" cy="1423458"/>
            </a:xfrm>
            <a:prstGeom prst="rect">
              <a:avLst/>
            </a:prstGeom>
          </p:spPr>
          <p:txBody>
            <a:bodyPr anchor="t" rtlCol="false" tIns="0" lIns="0" bIns="0" rIns="0">
              <a:spAutoFit/>
            </a:bodyPr>
            <a:lstStyle/>
            <a:p>
              <a:pPr algn="l" marL="0" indent="0" lvl="0">
                <a:lnSpc>
                  <a:spcPts val="7699"/>
                </a:lnSpc>
              </a:pPr>
              <a:r>
                <a:rPr lang="en-US" b="true" sz="6999" spc="-69">
                  <a:solidFill>
                    <a:srgbClr val="2A9DF4"/>
                  </a:solidFill>
                  <a:latin typeface="Telegraf Bold"/>
                  <a:ea typeface="Telegraf Bold"/>
                  <a:cs typeface="Telegraf Bold"/>
                  <a:sym typeface="Telegraf Bold"/>
                </a:rPr>
                <a:t>Conclusion</a:t>
              </a:r>
            </a:p>
          </p:txBody>
        </p:sp>
        <p:sp>
          <p:nvSpPr>
            <p:cNvPr name="TextBox 4" id="4"/>
            <p:cNvSpPr txBox="true"/>
            <p:nvPr/>
          </p:nvSpPr>
          <p:spPr>
            <a:xfrm rot="0">
              <a:off x="0" y="1885473"/>
              <a:ext cx="9182100" cy="1187450"/>
            </a:xfrm>
            <a:prstGeom prst="rect">
              <a:avLst/>
            </a:prstGeom>
          </p:spPr>
          <p:txBody>
            <a:bodyPr anchor="t" rtlCol="false" tIns="0" lIns="0" bIns="0" rIns="0">
              <a:spAutoFit/>
            </a:bodyPr>
            <a:lstStyle/>
            <a:p>
              <a:pPr algn="l" marL="0" indent="0" lvl="0">
                <a:lnSpc>
                  <a:spcPts val="3300"/>
                </a:lnSpc>
              </a:pPr>
              <a:r>
                <a:rPr lang="en-US" b="true" sz="3000" spc="-30">
                  <a:solidFill>
                    <a:srgbClr val="728CA3"/>
                  </a:solidFill>
                  <a:latin typeface="Telegraf Bold"/>
                  <a:ea typeface="Telegraf Bold"/>
                  <a:cs typeface="Telegraf Bold"/>
                  <a:sym typeface="Telegraf Bold"/>
                </a:rPr>
                <a:t>Impact of PhoneSense on Digital Wellness</a:t>
              </a:r>
            </a:p>
          </p:txBody>
        </p:sp>
      </p:grpSp>
      <p:sp>
        <p:nvSpPr>
          <p:cNvPr name="TextBox 5" id="5"/>
          <p:cNvSpPr txBox="true"/>
          <p:nvPr/>
        </p:nvSpPr>
        <p:spPr>
          <a:xfrm rot="0">
            <a:off x="9144000" y="2180811"/>
            <a:ext cx="8324850" cy="5311775"/>
          </a:xfrm>
          <a:prstGeom prst="rect">
            <a:avLst/>
          </a:prstGeom>
        </p:spPr>
        <p:txBody>
          <a:bodyPr anchor="t" rtlCol="false" tIns="0" lIns="0" bIns="0" rIns="0">
            <a:spAutoFit/>
          </a:bodyPr>
          <a:lstStyle/>
          <a:p>
            <a:pPr algn="l" marL="0" indent="0" lvl="0">
              <a:lnSpc>
                <a:spcPts val="2800"/>
              </a:lnSpc>
            </a:pPr>
            <a:r>
              <a:rPr lang="en-US" sz="2000" spc="-20">
                <a:solidFill>
                  <a:srgbClr val="728CA3"/>
                </a:solidFill>
                <a:latin typeface="Telegraf"/>
                <a:ea typeface="Telegraf"/>
                <a:cs typeface="Telegraf"/>
                <a:sym typeface="Telegraf"/>
              </a:rPr>
              <a:t>In summary, </a:t>
            </a:r>
            <a:r>
              <a:rPr lang="en-US" b="true" sz="2000" spc="-20">
                <a:solidFill>
                  <a:srgbClr val="728CA3"/>
                </a:solidFill>
                <a:latin typeface="Telegraf Bold"/>
                <a:ea typeface="Telegraf Bold"/>
                <a:cs typeface="Telegraf Bold"/>
                <a:sym typeface="Telegraf Bold"/>
              </a:rPr>
              <a:t>PhoneSense serves as a valuable tool</a:t>
            </a:r>
            <a:r>
              <a:rPr lang="en-US" sz="2000" spc="-20">
                <a:solidFill>
                  <a:srgbClr val="728CA3"/>
                </a:solidFill>
                <a:latin typeface="Telegraf"/>
                <a:ea typeface="Telegraf"/>
                <a:cs typeface="Telegraf"/>
                <a:sym typeface="Telegraf"/>
              </a:rPr>
              <a:t> for evaluating smartphone addiction risk through machine learning techniques. By leveraging behavioral and survey data, it identifies individuals at varying levels of risk, providing insights that can inform targeted interventions.</a:t>
            </a:r>
          </a:p>
          <a:p>
            <a:pPr algn="l" marL="0" indent="0" lvl="0">
              <a:lnSpc>
                <a:spcPts val="2800"/>
              </a:lnSpc>
            </a:pPr>
            <a:r>
              <a:rPr lang="en-US" sz="2000" spc="-20">
                <a:solidFill>
                  <a:srgbClr val="728CA3"/>
                </a:solidFill>
                <a:latin typeface="Telegraf"/>
                <a:ea typeface="Telegraf"/>
                <a:cs typeface="Telegraf"/>
                <a:sym typeface="Telegraf"/>
              </a:rPr>
              <a:t>Key takeaways include:</a:t>
            </a:r>
          </a:p>
          <a:p>
            <a:pPr algn="l" marL="431801" indent="-215900" lvl="1">
              <a:lnSpc>
                <a:spcPts val="2800"/>
              </a:lnSpc>
              <a:buFont typeface="Arial"/>
              <a:buChar char="•"/>
            </a:pPr>
            <a:r>
              <a:rPr lang="en-US" sz="2000" spc="-20">
                <a:solidFill>
                  <a:srgbClr val="728CA3"/>
                </a:solidFill>
                <a:latin typeface="Telegraf"/>
                <a:ea typeface="Telegraf"/>
                <a:cs typeface="Telegraf"/>
                <a:sym typeface="Telegraf"/>
              </a:rPr>
              <a:t>Addressing the rising dependency on smartphones</a:t>
            </a:r>
          </a:p>
          <a:p>
            <a:pPr algn="l" marL="431801" indent="-215900" lvl="1">
              <a:lnSpc>
                <a:spcPts val="2800"/>
              </a:lnSpc>
              <a:buFont typeface="Arial"/>
              <a:buChar char="•"/>
            </a:pPr>
            <a:r>
              <a:rPr lang="en-US" sz="2000" spc="-20">
                <a:solidFill>
                  <a:srgbClr val="728CA3"/>
                </a:solidFill>
                <a:latin typeface="Telegraf"/>
                <a:ea typeface="Telegraf"/>
                <a:cs typeface="Telegraf"/>
                <a:sym typeface="Telegraf"/>
              </a:rPr>
              <a:t>Understanding age as a critical moderating factor</a:t>
            </a:r>
          </a:p>
          <a:p>
            <a:pPr algn="l" marL="431801" indent="-215900" lvl="1">
              <a:lnSpc>
                <a:spcPts val="2800"/>
              </a:lnSpc>
              <a:buFont typeface="Arial"/>
              <a:buChar char="•"/>
            </a:pPr>
            <a:r>
              <a:rPr lang="en-US" sz="2000" spc="-20">
                <a:solidFill>
                  <a:srgbClr val="728CA3"/>
                </a:solidFill>
                <a:latin typeface="Telegraf"/>
                <a:ea typeface="Telegraf"/>
                <a:cs typeface="Telegraf"/>
                <a:sym typeface="Telegraf"/>
              </a:rPr>
              <a:t>Promoting digital wellness through data-driven approaches</a:t>
            </a:r>
          </a:p>
          <a:p>
            <a:pPr algn="l" marL="0" indent="0" lvl="0">
              <a:lnSpc>
                <a:spcPts val="2800"/>
              </a:lnSpc>
            </a:pPr>
            <a:r>
              <a:rPr lang="en-US" sz="2000" spc="-20">
                <a:solidFill>
                  <a:srgbClr val="728CA3"/>
                </a:solidFill>
                <a:latin typeface="Telegraf"/>
                <a:ea typeface="Telegraf"/>
                <a:cs typeface="Telegraf"/>
                <a:sym typeface="Telegraf"/>
              </a:rPr>
              <a:t>The potential impact extends beyond individual assessments, influencing broader digital wellness initiatives. PhoneSense can facilitate awareness campaigns, assist developers in creating healthier digital environments, and support researchers in understanding the dynamics of smartphone addiction.</a:t>
            </a:r>
          </a:p>
          <a:p>
            <a:pPr algn="l" marL="0" indent="0" lvl="0">
              <a:lnSpc>
                <a:spcPts val="2800"/>
              </a:lnSpc>
            </a:pPr>
            <a:r>
              <a:rPr lang="en-US" sz="2000" spc="-20">
                <a:solidFill>
                  <a:srgbClr val="728CA3"/>
                </a:solidFill>
                <a:latin typeface="Telegraf"/>
                <a:ea typeface="Telegraf"/>
                <a:cs typeface="Telegraf"/>
                <a:sym typeface="Telegraf"/>
              </a:rPr>
              <a:t>This project underscores the importance of a proactive approach to mental health in our increasingly digital world.</a:t>
            </a:r>
          </a:p>
        </p:txBody>
      </p:sp>
      <p:sp>
        <p:nvSpPr>
          <p:cNvPr name="AutoShape 6" id="6"/>
          <p:cNvSpPr/>
          <p:nvPr/>
        </p:nvSpPr>
        <p:spPr>
          <a:xfrm>
            <a:off x="666750" y="9620250"/>
            <a:ext cx="16954500" cy="0"/>
          </a:xfrm>
          <a:prstGeom prst="line">
            <a:avLst/>
          </a:prstGeom>
          <a:ln cap="flat" w="9525">
            <a:solidFill>
              <a:srgbClr val="2A9DF4"/>
            </a:solidFill>
            <a:prstDash val="solid"/>
            <a:headEnd type="none" len="sm" w="sm"/>
            <a:tailEnd type="none" len="sm" w="sm"/>
          </a:ln>
        </p:spPr>
      </p:sp>
      <p:sp>
        <p:nvSpPr>
          <p:cNvPr name="TextBox 7" id="7"/>
          <p:cNvSpPr txBox="true"/>
          <p:nvPr/>
        </p:nvSpPr>
        <p:spPr>
          <a:xfrm rot="0">
            <a:off x="17415597" y="9676442"/>
            <a:ext cx="152400" cy="190500"/>
          </a:xfrm>
          <a:prstGeom prst="rect">
            <a:avLst/>
          </a:prstGeom>
        </p:spPr>
        <p:txBody>
          <a:bodyPr anchor="t" rtlCol="false" tIns="0" lIns="0" bIns="0" rIns="0" wrap="none">
            <a:spAutoFit/>
          </a:bodyPr>
          <a:lstStyle/>
          <a:p>
            <a:pPr algn="r">
              <a:lnSpc>
                <a:spcPts val="1679"/>
              </a:lnSpc>
              <a:spcBef>
                <a:spcPct val="0"/>
              </a:spcBef>
            </a:pPr>
            <a:r>
              <a:rPr lang="en-US" b="true" sz="1200">
                <a:solidFill>
                  <a:srgbClr val="728CA3"/>
                </a:solidFill>
                <a:latin typeface="Telegraf Bold"/>
                <a:ea typeface="Telegraf Bold"/>
                <a:cs typeface="Telegraf Bold"/>
                <a:sym typeface="Telegraf Bold"/>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PhoneSense: Predicting Smartphone Addiction</dc:description>
  <dc:identifier>DAG5uy0yOFU</dc:identifier>
  <dcterms:modified xsi:type="dcterms:W3CDTF">2011-08-01T06:04:30Z</dcterms:modified>
  <cp:revision>1</cp:revision>
  <dc:title>Presentation - PhoneSense: Predicting Smartphone Addiction</dc:title>
</cp:coreProperties>
</file>